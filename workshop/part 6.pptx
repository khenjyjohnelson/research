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69" r:id="rId3"/>
    <p:sldId id="304" r:id="rId4"/>
    <p:sldId id="309" r:id="rId5"/>
    <p:sldId id="312" r:id="rId6"/>
    <p:sldId id="313" r:id="rId7"/>
    <p:sldId id="270" r:id="rId8"/>
    <p:sldId id="310" r:id="rId9"/>
    <p:sldId id="315" r:id="rId10"/>
    <p:sldId id="311" r:id="rId11"/>
    <p:sldId id="272" r:id="rId12"/>
    <p:sldId id="271" r:id="rId13"/>
    <p:sldId id="30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FD3D38-81AD-41ED-83CE-CC0E0F268B82}">
          <p14:sldIdLst>
            <p14:sldId id="256"/>
            <p14:sldId id="269"/>
            <p14:sldId id="304"/>
          </p14:sldIdLst>
        </p14:section>
        <p14:section name="Building a single web page" id="{59810A2D-0291-4EA2-AE17-D88FEE3C681F}">
          <p14:sldIdLst>
            <p14:sldId id="309"/>
            <p14:sldId id="312"/>
            <p14:sldId id="313"/>
            <p14:sldId id="270"/>
          </p14:sldIdLst>
        </p14:section>
        <p14:section name="Integrating with a backend" id="{C4489DE3-C1CA-4A57-A000-AE207138382B}">
          <p14:sldIdLst>
            <p14:sldId id="310"/>
            <p14:sldId id="315"/>
            <p14:sldId id="311"/>
          </p14:sldIdLst>
        </p14:section>
        <p14:section name="End" id="{2268E56B-AA4A-47BC-AB70-3DEC1816D7E6}">
          <p14:sldIdLst>
            <p14:sldId id="272"/>
            <p14:sldId id="271"/>
            <p14:sldId id="30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2581" autoAdjust="0"/>
  </p:normalViewPr>
  <p:slideViewPr>
    <p:cSldViewPr snapToGrid="0">
      <p:cViewPr varScale="1">
        <p:scale>
          <a:sx n="52" d="100"/>
          <a:sy n="52" d="100"/>
        </p:scale>
        <p:origin x="1228"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604"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C86216-81B5-4C06-9EC9-FC9ADCCB325A}" type="datetimeFigureOut">
              <a:rPr lang="en-US" smtClean="0"/>
              <a:t>7/21/2024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447EE9-9A9E-4921-B73D-E95FD704B33A}" type="slidenum">
              <a:rPr lang="en-US" smtClean="0"/>
              <a:t>‹#›</a:t>
            </a:fld>
            <a:endParaRPr lang="en-US"/>
          </a:p>
        </p:txBody>
      </p:sp>
    </p:spTree>
    <p:extLst>
      <p:ext uri="{BB962C8B-B14F-4D97-AF65-F5344CB8AC3E}">
        <p14:creationId xmlns:p14="http://schemas.microsoft.com/office/powerpoint/2010/main" val="1192427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a web template engine that is unfamiliar to most people can be challenging, especially if the instructor is already very comfortable with it. </a:t>
            </a:r>
          </a:p>
          <a:p>
            <a:r>
              <a:rPr lang="en-US" dirty="0"/>
              <a:t>### Example Outline for a Teaching Session</a:t>
            </a:r>
          </a:p>
          <a:p>
            <a:endParaRPr lang="en-US" dirty="0"/>
          </a:p>
          <a:p>
            <a:r>
              <a:rPr lang="en-US" dirty="0"/>
              <a:t>1. *Introduction to Template Engines*</a:t>
            </a:r>
          </a:p>
          <a:p>
            <a:r>
              <a:rPr lang="en-US" dirty="0"/>
              <a:t>   - What is a template engine?</a:t>
            </a:r>
          </a:p>
          <a:p>
            <a:r>
              <a:rPr lang="en-US" dirty="0"/>
              <a:t>   - Benefits of using a template engine</a:t>
            </a:r>
          </a:p>
          <a:p>
            <a:endParaRPr lang="en-US" dirty="0"/>
          </a:p>
          <a:p>
            <a:r>
              <a:rPr lang="en-US" dirty="0"/>
              <a:t>2. *Getting Started*</a:t>
            </a:r>
          </a:p>
          <a:p>
            <a:r>
              <a:rPr lang="en-US" dirty="0"/>
              <a:t>   - Installation and setup</a:t>
            </a:r>
          </a:p>
          <a:p>
            <a:r>
              <a:rPr lang="en-US" dirty="0"/>
              <a:t>   - Basic syntax and structure</a:t>
            </a:r>
          </a:p>
          <a:p>
            <a:endParaRPr lang="en-US" dirty="0"/>
          </a:p>
          <a:p>
            <a:r>
              <a:rPr lang="en-US" dirty="0"/>
              <a:t>3. *Core Features*</a:t>
            </a:r>
          </a:p>
          <a:p>
            <a:r>
              <a:rPr lang="en-US" dirty="0"/>
              <a:t>   - Variables and expressions</a:t>
            </a:r>
          </a:p>
          <a:p>
            <a:r>
              <a:rPr lang="en-US" dirty="0"/>
              <a:t>   - Loops and conditionals</a:t>
            </a:r>
          </a:p>
          <a:p>
            <a:endParaRPr lang="en-US" dirty="0"/>
          </a:p>
          <a:p>
            <a:r>
              <a:rPr lang="en-US" dirty="0"/>
              <a:t>4. *Advanced Topics*</a:t>
            </a:r>
          </a:p>
          <a:p>
            <a:r>
              <a:rPr lang="en-US" dirty="0"/>
              <a:t>   - Partial templates and includes</a:t>
            </a:r>
          </a:p>
          <a:p>
            <a:r>
              <a:rPr lang="en-US" dirty="0"/>
              <a:t>   - Template inheritance</a:t>
            </a:r>
          </a:p>
          <a:p>
            <a:endParaRPr lang="en-US" dirty="0"/>
          </a:p>
          <a:p>
            <a:r>
              <a:rPr lang="en-US" dirty="0"/>
              <a:t>5. *Practical Application*</a:t>
            </a:r>
          </a:p>
          <a:p>
            <a:r>
              <a:rPr lang="en-US" dirty="0"/>
              <a:t>   - Building a simple web page</a:t>
            </a:r>
          </a:p>
          <a:p>
            <a:r>
              <a:rPr lang="en-US" dirty="0"/>
              <a:t>   - Integrating with a backend</a:t>
            </a:r>
          </a:p>
          <a:p>
            <a:endParaRPr lang="en-US" dirty="0"/>
          </a:p>
          <a:p>
            <a:r>
              <a:rPr lang="en-US" dirty="0"/>
              <a:t>6. *Hands-On Workshop*</a:t>
            </a:r>
          </a:p>
          <a:p>
            <a:r>
              <a:rPr lang="en-US" dirty="0"/>
              <a:t>   - Live coding session</a:t>
            </a:r>
          </a:p>
          <a:p>
            <a:r>
              <a:rPr lang="en-US" dirty="0"/>
              <a:t>   - Interactive exercises</a:t>
            </a:r>
          </a:p>
          <a:p>
            <a:endParaRPr lang="en-US" dirty="0"/>
          </a:p>
          <a:p>
            <a:r>
              <a:rPr lang="en-US" dirty="0"/>
              <a:t>7. *Q&amp;A and Discussion*</a:t>
            </a:r>
          </a:p>
          <a:p>
            <a:r>
              <a:rPr lang="en-US" dirty="0"/>
              <a:t>   - Addressing common issues</a:t>
            </a:r>
          </a:p>
          <a:p>
            <a:r>
              <a:rPr lang="en-US" dirty="0"/>
              <a:t>   - Sharing tips and best practices</a:t>
            </a:r>
          </a:p>
          <a:p>
            <a:endParaRPr lang="en-US" dirty="0"/>
          </a:p>
          <a:p>
            <a:r>
              <a:rPr lang="en-US" dirty="0"/>
              <a:t>By following these strategies, you can effectively teach a web template engine, even if it is unfamiliar to most of your audience. The key is to break down the learning process, provide ample practice opportunities, and relate new concepts to familiar ones.</a:t>
            </a:r>
          </a:p>
          <a:p>
            <a:endParaRPr lang="en-US" dirty="0"/>
          </a:p>
          <a:p>
            <a:r>
              <a:rPr lang="en-US" dirty="0"/>
              <a:t>Here are some strategies to effectively teach such a tool:</a:t>
            </a:r>
          </a:p>
          <a:p>
            <a:endParaRPr lang="en-US" dirty="0"/>
          </a:p>
          <a:p>
            <a:r>
              <a:rPr lang="en-US" dirty="0"/>
              <a:t>### 1. *Start with the Basics*</a:t>
            </a:r>
          </a:p>
          <a:p>
            <a:r>
              <a:rPr lang="en-US" dirty="0"/>
              <a:t>   - *Introduction*: Begin with a clear explanation of what a template engine is and why it is useful. </a:t>
            </a:r>
          </a:p>
          <a:p>
            <a:r>
              <a:rPr lang="en-US" dirty="0"/>
              <a:t>   - *Use Cases*: Provide real-world examples where the template engine simplifies tasks.</a:t>
            </a:r>
          </a:p>
          <a:p>
            <a:endParaRPr lang="en-US" dirty="0"/>
          </a:p>
          <a:p>
            <a:r>
              <a:rPr lang="en-US" dirty="0"/>
              <a:t>### 2. *Break Down the Learning Process*</a:t>
            </a:r>
          </a:p>
          <a:p>
            <a:r>
              <a:rPr lang="en-US" dirty="0"/>
              <a:t>   - *Basic Syntax and Concepts*: Start with the basic syntax and fundamental concepts. Use simple examples to illustrate each concept.</a:t>
            </a:r>
          </a:p>
          <a:p>
            <a:r>
              <a:rPr lang="en-US" dirty="0"/>
              <a:t>   - *Progressive Complexity*: Gradually introduce more complex features and scenarios.</a:t>
            </a:r>
          </a:p>
          <a:p>
            <a:endParaRPr lang="en-US" dirty="0"/>
          </a:p>
          <a:p>
            <a:r>
              <a:rPr lang="en-US" dirty="0"/>
              <a:t>### 3. *Use Visual Aids*</a:t>
            </a:r>
          </a:p>
          <a:p>
            <a:r>
              <a:rPr lang="en-US" dirty="0"/>
              <a:t>   - *Diagrams and Flowcharts*: Use diagrams to explain how the template engine processes data and generates HTML.</a:t>
            </a:r>
          </a:p>
          <a:p>
            <a:r>
              <a:rPr lang="en-US" dirty="0"/>
              <a:t>   - *Code Snippets*: Show side-by-side comparisons of code before and after applying the template engine.</a:t>
            </a:r>
          </a:p>
          <a:p>
            <a:endParaRPr lang="en-US" dirty="0"/>
          </a:p>
          <a:p>
            <a:r>
              <a:rPr lang="en-US" dirty="0"/>
              <a:t>### 4. *Hands-On Practice*</a:t>
            </a:r>
          </a:p>
          <a:p>
            <a:r>
              <a:rPr lang="en-US" dirty="0"/>
              <a:t>   - *Live Coding*: Demonstrate coding live to show the process in real-time.</a:t>
            </a:r>
          </a:p>
          <a:p>
            <a:r>
              <a:rPr lang="en-US" dirty="0"/>
              <a:t>   - *Interactive Exercises*: Provide exercises for students to practice what they’ve learned. Use pair programming to encourage collaboration.</a:t>
            </a:r>
          </a:p>
          <a:p>
            <a:endParaRPr lang="en-US" dirty="0"/>
          </a:p>
          <a:p>
            <a:r>
              <a:rPr lang="en-US" dirty="0"/>
              <a:t>### 5. *Provide Clear Documentation*</a:t>
            </a:r>
          </a:p>
          <a:p>
            <a:r>
              <a:rPr lang="en-US" dirty="0"/>
              <a:t>   - *Cheat Sheets*: Create cheat sheets with common syntax and commands.</a:t>
            </a:r>
          </a:p>
          <a:p>
            <a:r>
              <a:rPr lang="en-US" dirty="0"/>
              <a:t>   - *Step-by-Step Guides*: Offer detailed guides that walk through the process of setting up and using the template engine.</a:t>
            </a:r>
          </a:p>
          <a:p>
            <a:endParaRPr lang="en-US" dirty="0"/>
          </a:p>
          <a:p>
            <a:r>
              <a:rPr lang="en-US" dirty="0"/>
              <a:t>### 6. *Encourage Questions and Discussions*</a:t>
            </a:r>
          </a:p>
          <a:p>
            <a:r>
              <a:rPr lang="en-US" dirty="0"/>
              <a:t>   - *Q&amp;A Sessions*: Allow time for students to ask questions and discuss challenges.</a:t>
            </a:r>
          </a:p>
          <a:p>
            <a:r>
              <a:rPr lang="en-US" dirty="0"/>
              <a:t>   - *Discussion Forums*: Use forums or chat groups to facilitate ongoing discussion and support.</a:t>
            </a:r>
          </a:p>
          <a:p>
            <a:endParaRPr lang="en-US" dirty="0"/>
          </a:p>
          <a:p>
            <a:r>
              <a:rPr lang="en-US" dirty="0"/>
              <a:t>### 7. *Relate to Known Concepts*</a:t>
            </a:r>
          </a:p>
          <a:p>
            <a:r>
              <a:rPr lang="en-US" dirty="0"/>
              <a:t>   - *Analogies and Comparisons*: Relate the template engine to concepts students already know (e.g., comparing it to other template engines or programming paradigms).</a:t>
            </a:r>
          </a:p>
          <a:p>
            <a:endParaRPr lang="en-US" dirty="0"/>
          </a:p>
          <a:p>
            <a:r>
              <a:rPr lang="en-US" dirty="0"/>
              <a:t>### 8. *Real-World Projects*</a:t>
            </a:r>
          </a:p>
          <a:p>
            <a:r>
              <a:rPr lang="en-US" dirty="0"/>
              <a:t>   - *Project-Based Learning*: Assign projects that require students to use the template engine to solve problems.</a:t>
            </a:r>
          </a:p>
          <a:p>
            <a:r>
              <a:rPr lang="en-US" dirty="0"/>
              <a:t>   - *Incremental Projects*: Break projects into smaller, manageable tasks that build on each other.</a:t>
            </a:r>
          </a:p>
          <a:p>
            <a:endParaRPr lang="en-US" dirty="0"/>
          </a:p>
          <a:p>
            <a:r>
              <a:rPr lang="en-US" dirty="0"/>
              <a:t>### 9. *Feedback and Iteration*</a:t>
            </a:r>
          </a:p>
          <a:p>
            <a:r>
              <a:rPr lang="en-US" dirty="0"/>
              <a:t>   - *Regular Feedback*: Provide regular feedback on assignments and projects.</a:t>
            </a:r>
          </a:p>
          <a:p>
            <a:r>
              <a:rPr lang="en-US" dirty="0"/>
              <a:t>   - *Iterate and Improve*: Use feedback to improve the teaching approach and materials.</a:t>
            </a:r>
          </a:p>
          <a:p>
            <a:endParaRPr lang="en-US" dirty="0"/>
          </a:p>
          <a:p>
            <a:r>
              <a:rPr lang="en-US" dirty="0"/>
              <a:t>### 10. *Showcase Benefits*</a:t>
            </a:r>
          </a:p>
          <a:p>
            <a:r>
              <a:rPr lang="en-US" dirty="0"/>
              <a:t>   - *Performance and Efficiency*: Demonstrate how the template engine improves performance and development efficiency.</a:t>
            </a:r>
          </a:p>
          <a:p>
            <a:r>
              <a:rPr lang="en-US" dirty="0"/>
              <a:t>   - *Case Studies*: Share case studies or testimonials from companies or projects that have successfully used the template engine.</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1</a:t>
            </a:fld>
            <a:endParaRPr lang="en-US"/>
          </a:p>
        </p:txBody>
      </p:sp>
    </p:spTree>
    <p:extLst>
      <p:ext uri="{BB962C8B-B14F-4D97-AF65-F5344CB8AC3E}">
        <p14:creationId xmlns:p14="http://schemas.microsoft.com/office/powerpoint/2010/main" val="857598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2</a:t>
            </a:fld>
            <a:endParaRPr lang="en-US"/>
          </a:p>
        </p:txBody>
      </p:sp>
    </p:spTree>
    <p:extLst>
      <p:ext uri="{BB962C8B-B14F-4D97-AF65-F5344CB8AC3E}">
        <p14:creationId xmlns:p14="http://schemas.microsoft.com/office/powerpoint/2010/main" val="2446254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*Practical Application*</a:t>
            </a:r>
          </a:p>
          <a:p>
            <a:r>
              <a:rPr lang="en-US" dirty="0"/>
              <a:t>   - Building a simple web page</a:t>
            </a:r>
          </a:p>
          <a:p>
            <a:r>
              <a:rPr lang="en-US" dirty="0"/>
              <a:t>   - Integrating with a backend</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3</a:t>
            </a:fld>
            <a:endParaRPr lang="en-US"/>
          </a:p>
        </p:txBody>
      </p:sp>
    </p:spTree>
    <p:extLst>
      <p:ext uri="{BB962C8B-B14F-4D97-AF65-F5344CB8AC3E}">
        <p14:creationId xmlns:p14="http://schemas.microsoft.com/office/powerpoint/2010/main" val="2536098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*Practical Application*</a:t>
            </a:r>
          </a:p>
          <a:p>
            <a:r>
              <a:rPr lang="en-US" dirty="0"/>
              <a:t>   - Building a simple web page</a:t>
            </a:r>
          </a:p>
          <a:p>
            <a:r>
              <a:rPr lang="en-US" dirty="0"/>
              <a:t>   - Integrating with a backend</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4</a:t>
            </a:fld>
            <a:endParaRPr lang="en-US"/>
          </a:p>
        </p:txBody>
      </p:sp>
    </p:spTree>
    <p:extLst>
      <p:ext uri="{BB962C8B-B14F-4D97-AF65-F5344CB8AC3E}">
        <p14:creationId xmlns:p14="http://schemas.microsoft.com/office/powerpoint/2010/main" val="2463649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*Practical Application*</a:t>
            </a:r>
          </a:p>
          <a:p>
            <a:r>
              <a:rPr lang="en-US" dirty="0"/>
              <a:t>   - Building a simple web page</a:t>
            </a:r>
          </a:p>
          <a:p>
            <a:r>
              <a:rPr lang="en-US" dirty="0"/>
              <a:t>   - Integrating with a backend</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8</a:t>
            </a:fld>
            <a:endParaRPr lang="en-US"/>
          </a:p>
        </p:txBody>
      </p:sp>
    </p:spTree>
    <p:extLst>
      <p:ext uri="{BB962C8B-B14F-4D97-AF65-F5344CB8AC3E}">
        <p14:creationId xmlns:p14="http://schemas.microsoft.com/office/powerpoint/2010/main" val="37323586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283357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482580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70222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6A3C46-8496-460C-922A-2BB90B28B118}" type="datetimeFigureOut">
              <a:rPr lang="en-US" smtClean="0"/>
              <a:t>7/21/2024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418633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6A3C46-8496-460C-922A-2BB90B28B118}" type="datetimeFigureOut">
              <a:rPr lang="en-US" smtClean="0"/>
              <a:t>7/21/2024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283368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6A3C46-8496-460C-922A-2BB90B28B118}" type="datetimeFigureOut">
              <a:rPr lang="en-US" smtClean="0"/>
              <a:t>7/21/2024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191238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6A3C46-8496-460C-922A-2BB90B28B118}" type="datetimeFigureOut">
              <a:rPr lang="en-US" smtClean="0"/>
              <a:t>7/21/2024</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08550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7/21/2024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328692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7/21/2024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678849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7/21/2024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794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313907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737243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8448714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6A3C46-8496-460C-922A-2BB90B28B118}" type="datetimeFigureOut">
              <a:rPr lang="en-US" smtClean="0"/>
              <a:t>7/21/2024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433339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6A3C46-8496-460C-922A-2BB90B28B118}" type="datetimeFigureOut">
              <a:rPr lang="en-US" smtClean="0"/>
              <a:t>7/21/2024</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390863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966651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443151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E6A3C46-8496-460C-922A-2BB90B28B118}" type="datetimeFigureOut">
              <a:rPr lang="en-US" smtClean="0"/>
              <a:t>7/21/2024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F3F7ECA-16D3-4253-BA01-16C429A59419}" type="slidenum">
              <a:rPr lang="en-US" smtClean="0"/>
              <a:t>‹#›</a:t>
            </a:fld>
            <a:endParaRPr lang="en-US"/>
          </a:p>
        </p:txBody>
      </p:sp>
    </p:spTree>
    <p:extLst>
      <p:ext uri="{BB962C8B-B14F-4D97-AF65-F5344CB8AC3E}">
        <p14:creationId xmlns:p14="http://schemas.microsoft.com/office/powerpoint/2010/main" val="35414414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learning.postman.com/docs/sending-requests/variables/variables/" TargetMode="External"/><Relationship Id="rId2" Type="http://schemas.openxmlformats.org/officeDocument/2006/relationships/hyperlink" Target="https://web.archive.org/web/20121204081204/http:/www.phpwact.org/pattern/template_view" TargetMode="External"/><Relationship Id="rId1" Type="http://schemas.openxmlformats.org/officeDocument/2006/relationships/slideLayout" Target="../slideLayouts/slideLayout2.xml"/><Relationship Id="rId4" Type="http://schemas.openxmlformats.org/officeDocument/2006/relationships/hyperlink" Target="https://community.postman.com/t/how-to-set-and-get-dynamic-environmental-variable/7482" TargetMode="External"/></Relationships>
</file>

<file path=ppt/slides/_rels/slide12.xml.rels><?xml version="1.0" encoding="UTF-8" standalone="yes"?>
<Relationships xmlns="http://schemas.openxmlformats.org/package/2006/relationships"><Relationship Id="rId2" Type="http://schemas.openxmlformats.org/officeDocument/2006/relationships/hyperlink" Target="https://discord.gg/4pTNSCQbvw" TargetMode="Externa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A824E-4681-28C1-DC9C-152794B791F1}"/>
              </a:ext>
            </a:extLst>
          </p:cNvPr>
          <p:cNvSpPr>
            <a:spLocks noGrp="1"/>
          </p:cNvSpPr>
          <p:nvPr>
            <p:ph type="ctrTitle"/>
          </p:nvPr>
        </p:nvSpPr>
        <p:spPr/>
        <p:txBody>
          <a:bodyPr/>
          <a:lstStyle/>
          <a:p>
            <a:r>
              <a:rPr lang="en-ID" dirty="0" err="1"/>
              <a:t>Omnitags</a:t>
            </a:r>
            <a:r>
              <a:rPr lang="en-ID" dirty="0"/>
              <a:t> Web Template System</a:t>
            </a:r>
            <a:endParaRPr lang="en-US" dirty="0"/>
          </a:p>
        </p:txBody>
      </p:sp>
      <p:sp>
        <p:nvSpPr>
          <p:cNvPr id="3" name="Subtitle 2">
            <a:extLst>
              <a:ext uri="{FF2B5EF4-FFF2-40B4-BE49-F238E27FC236}">
                <a16:creationId xmlns:a16="http://schemas.microsoft.com/office/drawing/2014/main" id="{D351EAEE-754F-1FE9-02D4-E0E56E47C69A}"/>
              </a:ext>
            </a:extLst>
          </p:cNvPr>
          <p:cNvSpPr>
            <a:spLocks noGrp="1"/>
          </p:cNvSpPr>
          <p:nvPr>
            <p:ph type="subTitle" idx="1"/>
          </p:nvPr>
        </p:nvSpPr>
        <p:spPr/>
        <p:txBody>
          <a:bodyPr/>
          <a:lstStyle/>
          <a:p>
            <a:r>
              <a:rPr lang="en-ID" dirty="0"/>
              <a:t>Khenjy Johnelson</a:t>
            </a:r>
            <a:endParaRPr lang="en-US" dirty="0"/>
          </a:p>
        </p:txBody>
      </p:sp>
    </p:spTree>
    <p:extLst>
      <p:ext uri="{BB962C8B-B14F-4D97-AF65-F5344CB8AC3E}">
        <p14:creationId xmlns:p14="http://schemas.microsoft.com/office/powerpoint/2010/main" val="1993656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E471C-A5F3-8062-0E92-F06A8E873170}"/>
              </a:ext>
            </a:extLst>
          </p:cNvPr>
          <p:cNvSpPr>
            <a:spLocks noGrp="1"/>
          </p:cNvSpPr>
          <p:nvPr>
            <p:ph type="title"/>
          </p:nvPr>
        </p:nvSpPr>
        <p:spPr/>
        <p:txBody>
          <a:bodyPr/>
          <a:lstStyle/>
          <a:p>
            <a:r>
              <a:rPr lang="en-ID" dirty="0"/>
              <a:t>Outline</a:t>
            </a:r>
            <a:endParaRPr lang="en-US" dirty="0"/>
          </a:p>
        </p:txBody>
      </p:sp>
      <p:sp>
        <p:nvSpPr>
          <p:cNvPr id="3" name="Content Placeholder 2">
            <a:extLst>
              <a:ext uri="{FF2B5EF4-FFF2-40B4-BE49-F238E27FC236}">
                <a16:creationId xmlns:a16="http://schemas.microsoft.com/office/drawing/2014/main" id="{7A17C4DA-81EA-634F-D32E-AB56A7C1CD1A}"/>
              </a:ext>
            </a:extLst>
          </p:cNvPr>
          <p:cNvSpPr>
            <a:spLocks noGrp="1"/>
          </p:cNvSpPr>
          <p:nvPr>
            <p:ph idx="1"/>
          </p:nvPr>
        </p:nvSpPr>
        <p:spPr/>
        <p:txBody>
          <a:bodyPr/>
          <a:lstStyle/>
          <a:p>
            <a:r>
              <a:rPr lang="en-ID" dirty="0"/>
              <a:t>Part 1	: Preface</a:t>
            </a:r>
          </a:p>
          <a:p>
            <a:r>
              <a:rPr lang="en-ID" dirty="0"/>
              <a:t>Part 2	: Introduction to web template</a:t>
            </a:r>
          </a:p>
          <a:p>
            <a:r>
              <a:rPr lang="en-ID" dirty="0"/>
              <a:t>Part 3	: Getting Started</a:t>
            </a:r>
          </a:p>
          <a:p>
            <a:r>
              <a:rPr lang="en-ID" dirty="0"/>
              <a:t>Part 4	: Core Features</a:t>
            </a:r>
          </a:p>
          <a:p>
            <a:r>
              <a:rPr lang="en-ID" dirty="0"/>
              <a:t>Part 5	: Advanced Topics</a:t>
            </a:r>
          </a:p>
          <a:p>
            <a:r>
              <a:rPr lang="en-ID" b="1" dirty="0"/>
              <a:t>Part 6	: Practical Application</a:t>
            </a:r>
          </a:p>
          <a:p>
            <a:r>
              <a:rPr lang="en-ID" dirty="0"/>
              <a:t>Part 7	: Hands-On Workshop</a:t>
            </a:r>
          </a:p>
          <a:p>
            <a:r>
              <a:rPr lang="en-ID" dirty="0"/>
              <a:t>Part 8	: Q&amp;A and Discussion</a:t>
            </a:r>
            <a:endParaRPr lang="en-US" dirty="0"/>
          </a:p>
        </p:txBody>
      </p:sp>
    </p:spTree>
    <p:extLst>
      <p:ext uri="{BB962C8B-B14F-4D97-AF65-F5344CB8AC3E}">
        <p14:creationId xmlns:p14="http://schemas.microsoft.com/office/powerpoint/2010/main" val="2058372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B533E28-4841-B7FB-C03C-AAF8BDC27A3A}"/>
              </a:ext>
            </a:extLst>
          </p:cNvPr>
          <p:cNvSpPr>
            <a:spLocks noGrp="1"/>
          </p:cNvSpPr>
          <p:nvPr>
            <p:ph type="title"/>
          </p:nvPr>
        </p:nvSpPr>
        <p:spPr/>
        <p:txBody>
          <a:bodyPr/>
          <a:lstStyle/>
          <a:p>
            <a:r>
              <a:rPr lang="en-ID" dirty="0"/>
              <a:t>Practical Application</a:t>
            </a:r>
            <a:endParaRPr lang="en-US" dirty="0"/>
          </a:p>
        </p:txBody>
      </p:sp>
      <p:sp>
        <p:nvSpPr>
          <p:cNvPr id="8" name="Text Placeholder 7">
            <a:extLst>
              <a:ext uri="{FF2B5EF4-FFF2-40B4-BE49-F238E27FC236}">
                <a16:creationId xmlns:a16="http://schemas.microsoft.com/office/drawing/2014/main" id="{F4A9D9FF-6B51-B2D2-4B2A-B65705D65203}"/>
              </a:ext>
            </a:extLst>
          </p:cNvPr>
          <p:cNvSpPr>
            <a:spLocks noGrp="1"/>
          </p:cNvSpPr>
          <p:nvPr>
            <p:ph type="body" idx="1"/>
          </p:nvPr>
        </p:nvSpPr>
        <p:spPr/>
        <p:txBody>
          <a:bodyPr/>
          <a:lstStyle/>
          <a:p>
            <a:r>
              <a:rPr lang="en-ID" dirty="0"/>
              <a:t>Building a simple web page</a:t>
            </a:r>
          </a:p>
          <a:p>
            <a:r>
              <a:rPr lang="en-ID" dirty="0"/>
              <a:t>Integrating with a backend</a:t>
            </a:r>
            <a:endParaRPr lang="en-US" dirty="0"/>
          </a:p>
        </p:txBody>
      </p:sp>
    </p:spTree>
    <p:extLst>
      <p:ext uri="{BB962C8B-B14F-4D97-AF65-F5344CB8AC3E}">
        <p14:creationId xmlns:p14="http://schemas.microsoft.com/office/powerpoint/2010/main" val="2880314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B533E28-4841-B7FB-C03C-AAF8BDC27A3A}"/>
              </a:ext>
            </a:extLst>
          </p:cNvPr>
          <p:cNvSpPr>
            <a:spLocks noGrp="1"/>
          </p:cNvSpPr>
          <p:nvPr>
            <p:ph type="title"/>
          </p:nvPr>
        </p:nvSpPr>
        <p:spPr/>
        <p:txBody>
          <a:bodyPr/>
          <a:lstStyle/>
          <a:p>
            <a:r>
              <a:rPr lang="en-ID" dirty="0"/>
              <a:t>Building a simple web page</a:t>
            </a:r>
            <a:endParaRPr lang="en-US" dirty="0"/>
          </a:p>
        </p:txBody>
      </p:sp>
      <p:sp>
        <p:nvSpPr>
          <p:cNvPr id="8" name="Text Placeholder 7">
            <a:extLst>
              <a:ext uri="{FF2B5EF4-FFF2-40B4-BE49-F238E27FC236}">
                <a16:creationId xmlns:a16="http://schemas.microsoft.com/office/drawing/2014/main" id="{F4A9D9FF-6B51-B2D2-4B2A-B65705D65203}"/>
              </a:ext>
            </a:extLst>
          </p:cNvPr>
          <p:cNvSpPr>
            <a:spLocks noGrp="1"/>
          </p:cNvSpPr>
          <p:nvPr>
            <p:ph type="body" idx="1"/>
          </p:nvPr>
        </p:nvSpPr>
        <p:spPr/>
        <p:txBody>
          <a:bodyPr/>
          <a:lstStyle/>
          <a:p>
            <a:r>
              <a:rPr lang="en-ID" dirty="0"/>
              <a:t>Preparation</a:t>
            </a:r>
          </a:p>
          <a:p>
            <a:r>
              <a:rPr lang="en-ID" dirty="0"/>
              <a:t>Doing it</a:t>
            </a:r>
            <a:endParaRPr lang="en-US" dirty="0"/>
          </a:p>
        </p:txBody>
      </p:sp>
    </p:spTree>
    <p:extLst>
      <p:ext uri="{BB962C8B-B14F-4D97-AF65-F5344CB8AC3E}">
        <p14:creationId xmlns:p14="http://schemas.microsoft.com/office/powerpoint/2010/main" val="2072041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2DD33-2788-8CDB-E833-699A18E8A49D}"/>
              </a:ext>
            </a:extLst>
          </p:cNvPr>
          <p:cNvSpPr>
            <a:spLocks noGrp="1"/>
          </p:cNvSpPr>
          <p:nvPr>
            <p:ph type="title"/>
          </p:nvPr>
        </p:nvSpPr>
        <p:spPr/>
        <p:txBody>
          <a:bodyPr/>
          <a:lstStyle/>
          <a:p>
            <a:r>
              <a:rPr lang="en-ID" dirty="0"/>
              <a:t>Preparation</a:t>
            </a:r>
            <a:endParaRPr lang="en-US" dirty="0"/>
          </a:p>
        </p:txBody>
      </p:sp>
      <p:sp>
        <p:nvSpPr>
          <p:cNvPr id="5" name="Content Placeholder 4">
            <a:extLst>
              <a:ext uri="{FF2B5EF4-FFF2-40B4-BE49-F238E27FC236}">
                <a16:creationId xmlns:a16="http://schemas.microsoft.com/office/drawing/2014/main" id="{DDD3D1EE-CA77-10E7-A5B7-E804F3D91422}"/>
              </a:ext>
            </a:extLst>
          </p:cNvPr>
          <p:cNvSpPr>
            <a:spLocks noGrp="1"/>
          </p:cNvSpPr>
          <p:nvPr>
            <p:ph idx="1"/>
          </p:nvPr>
        </p:nvSpPr>
        <p:spPr/>
        <p:txBody>
          <a:bodyPr/>
          <a:lstStyle/>
          <a:p>
            <a:r>
              <a:rPr lang="en-ID" dirty="0"/>
              <a:t>Complete the </a:t>
            </a:r>
            <a:r>
              <a:rPr lang="en-ID" dirty="0" err="1"/>
              <a:t>intallation</a:t>
            </a:r>
            <a:r>
              <a:rPr lang="en-ID" dirty="0"/>
              <a:t> and setup</a:t>
            </a:r>
            <a:endParaRPr lang="en-US" dirty="0"/>
          </a:p>
        </p:txBody>
      </p:sp>
    </p:spTree>
    <p:extLst>
      <p:ext uri="{BB962C8B-B14F-4D97-AF65-F5344CB8AC3E}">
        <p14:creationId xmlns:p14="http://schemas.microsoft.com/office/powerpoint/2010/main" val="2187541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3BFAA-F636-167F-496A-BF26DD9664AC}"/>
              </a:ext>
            </a:extLst>
          </p:cNvPr>
          <p:cNvSpPr>
            <a:spLocks noGrp="1"/>
          </p:cNvSpPr>
          <p:nvPr>
            <p:ph type="title"/>
          </p:nvPr>
        </p:nvSpPr>
        <p:spPr/>
        <p:txBody>
          <a:bodyPr/>
          <a:lstStyle/>
          <a:p>
            <a:r>
              <a:rPr lang="en-ID" dirty="0"/>
              <a:t>Doing it</a:t>
            </a:r>
            <a:endParaRPr lang="en-US" dirty="0"/>
          </a:p>
        </p:txBody>
      </p:sp>
      <p:pic>
        <p:nvPicPr>
          <p:cNvPr id="4" name="Content Placeholder 4">
            <a:extLst>
              <a:ext uri="{FF2B5EF4-FFF2-40B4-BE49-F238E27FC236}">
                <a16:creationId xmlns:a16="http://schemas.microsoft.com/office/drawing/2014/main" id="{4DD021EE-47A2-0CD5-AAA6-376DC48287D1}"/>
              </a:ext>
            </a:extLst>
          </p:cNvPr>
          <p:cNvPicPr>
            <a:picLocks noGrp="1" noChangeAspect="1"/>
          </p:cNvPicPr>
          <p:nvPr>
            <p:ph idx="1"/>
          </p:nvPr>
        </p:nvPicPr>
        <p:blipFill>
          <a:blip r:embed="rId2"/>
          <a:stretch>
            <a:fillRect/>
          </a:stretch>
        </p:blipFill>
        <p:spPr>
          <a:xfrm>
            <a:off x="1961427" y="2603500"/>
            <a:ext cx="7213458" cy="3416300"/>
          </a:xfrm>
        </p:spPr>
      </p:pic>
    </p:spTree>
    <p:extLst>
      <p:ext uri="{BB962C8B-B14F-4D97-AF65-F5344CB8AC3E}">
        <p14:creationId xmlns:p14="http://schemas.microsoft.com/office/powerpoint/2010/main" val="3487067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DBB1A-E0A1-E198-A010-69D345E626A0}"/>
              </a:ext>
            </a:extLst>
          </p:cNvPr>
          <p:cNvSpPr>
            <a:spLocks noGrp="1"/>
          </p:cNvSpPr>
          <p:nvPr>
            <p:ph type="title"/>
          </p:nvPr>
        </p:nvSpPr>
        <p:spPr/>
        <p:txBody>
          <a:bodyPr/>
          <a:lstStyle/>
          <a:p>
            <a:r>
              <a:rPr lang="en-ID" dirty="0"/>
              <a:t>Practical Application</a:t>
            </a:r>
            <a:endParaRPr lang="en-US" dirty="0"/>
          </a:p>
        </p:txBody>
      </p:sp>
      <p:sp>
        <p:nvSpPr>
          <p:cNvPr id="4" name="Text Placeholder 3">
            <a:extLst>
              <a:ext uri="{FF2B5EF4-FFF2-40B4-BE49-F238E27FC236}">
                <a16:creationId xmlns:a16="http://schemas.microsoft.com/office/drawing/2014/main" id="{4032790A-BCB2-5782-176B-0DB34629AE73}"/>
              </a:ext>
            </a:extLst>
          </p:cNvPr>
          <p:cNvSpPr>
            <a:spLocks noGrp="1"/>
          </p:cNvSpPr>
          <p:nvPr>
            <p:ph type="body" idx="1"/>
          </p:nvPr>
        </p:nvSpPr>
        <p:spPr/>
        <p:txBody>
          <a:bodyPr/>
          <a:lstStyle/>
          <a:p>
            <a:r>
              <a:rPr lang="en-ID" dirty="0"/>
              <a:t>Building a simple Web Page</a:t>
            </a:r>
            <a:endParaRPr lang="en-US" dirty="0"/>
          </a:p>
        </p:txBody>
      </p:sp>
      <p:sp>
        <p:nvSpPr>
          <p:cNvPr id="6" name="Text Placeholder 5">
            <a:extLst>
              <a:ext uri="{FF2B5EF4-FFF2-40B4-BE49-F238E27FC236}">
                <a16:creationId xmlns:a16="http://schemas.microsoft.com/office/drawing/2014/main" id="{7DEBE26C-E327-F16F-4BC9-1D4DB1E76E5F}"/>
              </a:ext>
            </a:extLst>
          </p:cNvPr>
          <p:cNvSpPr>
            <a:spLocks noGrp="1"/>
          </p:cNvSpPr>
          <p:nvPr>
            <p:ph type="body" sz="quarter" idx="3"/>
          </p:nvPr>
        </p:nvSpPr>
        <p:spPr/>
        <p:txBody>
          <a:bodyPr/>
          <a:lstStyle/>
          <a:p>
            <a:r>
              <a:rPr lang="en-ID" dirty="0"/>
              <a:t>Integrating with a backend</a:t>
            </a:r>
            <a:endParaRPr lang="en-US" dirty="0"/>
          </a:p>
        </p:txBody>
      </p:sp>
      <p:pic>
        <p:nvPicPr>
          <p:cNvPr id="10" name="Content Placeholder 9">
            <a:extLst>
              <a:ext uri="{FF2B5EF4-FFF2-40B4-BE49-F238E27FC236}">
                <a16:creationId xmlns:a16="http://schemas.microsoft.com/office/drawing/2014/main" id="{CC979B9B-6A22-A309-710B-CD3682A920E4}"/>
              </a:ext>
            </a:extLst>
          </p:cNvPr>
          <p:cNvPicPr>
            <a:picLocks noGrp="1" noChangeAspect="1"/>
          </p:cNvPicPr>
          <p:nvPr>
            <p:ph sz="quarter" idx="4"/>
          </p:nvPr>
        </p:nvPicPr>
        <p:blipFill>
          <a:blip r:embed="rId2"/>
          <a:stretch>
            <a:fillRect/>
          </a:stretch>
        </p:blipFill>
        <p:spPr>
          <a:xfrm>
            <a:off x="6208713" y="3242916"/>
            <a:ext cx="4824412" cy="2713731"/>
          </a:xfrm>
        </p:spPr>
      </p:pic>
      <p:pic>
        <p:nvPicPr>
          <p:cNvPr id="8" name="Content Placeholder 4">
            <a:extLst>
              <a:ext uri="{FF2B5EF4-FFF2-40B4-BE49-F238E27FC236}">
                <a16:creationId xmlns:a16="http://schemas.microsoft.com/office/drawing/2014/main" id="{5DD9AB8A-8F18-9CD3-3FF0-85773480DD44}"/>
              </a:ext>
            </a:extLst>
          </p:cNvPr>
          <p:cNvPicPr>
            <a:picLocks noGrp="1" noChangeAspect="1"/>
          </p:cNvPicPr>
          <p:nvPr>
            <p:ph sz="half" idx="2"/>
          </p:nvPr>
        </p:nvPicPr>
        <p:blipFill>
          <a:blip r:embed="rId3"/>
          <a:stretch>
            <a:fillRect/>
          </a:stretch>
        </p:blipFill>
        <p:spPr>
          <a:xfrm>
            <a:off x="1155700" y="3457358"/>
            <a:ext cx="4824413" cy="2284846"/>
          </a:xfrm>
        </p:spPr>
      </p:pic>
    </p:spTree>
    <p:extLst>
      <p:ext uri="{BB962C8B-B14F-4D97-AF65-F5344CB8AC3E}">
        <p14:creationId xmlns:p14="http://schemas.microsoft.com/office/powerpoint/2010/main" val="558477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B533E28-4841-B7FB-C03C-AAF8BDC27A3A}"/>
              </a:ext>
            </a:extLst>
          </p:cNvPr>
          <p:cNvSpPr>
            <a:spLocks noGrp="1"/>
          </p:cNvSpPr>
          <p:nvPr>
            <p:ph type="title"/>
          </p:nvPr>
        </p:nvSpPr>
        <p:spPr/>
        <p:txBody>
          <a:bodyPr/>
          <a:lstStyle/>
          <a:p>
            <a:r>
              <a:rPr lang="en-ID" dirty="0"/>
              <a:t>Integrating with a backend</a:t>
            </a:r>
            <a:endParaRPr lang="en-US" dirty="0"/>
          </a:p>
        </p:txBody>
      </p:sp>
      <p:sp>
        <p:nvSpPr>
          <p:cNvPr id="8" name="Text Placeholder 7">
            <a:extLst>
              <a:ext uri="{FF2B5EF4-FFF2-40B4-BE49-F238E27FC236}">
                <a16:creationId xmlns:a16="http://schemas.microsoft.com/office/drawing/2014/main" id="{F4A9D9FF-6B51-B2D2-4B2A-B65705D65203}"/>
              </a:ext>
            </a:extLst>
          </p:cNvPr>
          <p:cNvSpPr>
            <a:spLocks noGrp="1"/>
          </p:cNvSpPr>
          <p:nvPr>
            <p:ph type="body" idx="1"/>
          </p:nvPr>
        </p:nvSpPr>
        <p:spPr/>
        <p:txBody>
          <a:bodyPr/>
          <a:lstStyle/>
          <a:p>
            <a:r>
              <a:rPr lang="en-ID" dirty="0"/>
              <a:t>preparation</a:t>
            </a:r>
          </a:p>
          <a:p>
            <a:r>
              <a:rPr lang="en-ID" dirty="0"/>
              <a:t>Lets integrate it</a:t>
            </a:r>
            <a:endParaRPr lang="en-US" dirty="0"/>
          </a:p>
        </p:txBody>
      </p:sp>
    </p:spTree>
    <p:extLst>
      <p:ext uri="{BB962C8B-B14F-4D97-AF65-F5344CB8AC3E}">
        <p14:creationId xmlns:p14="http://schemas.microsoft.com/office/powerpoint/2010/main" val="963759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2DD33-2788-8CDB-E833-699A18E8A49D}"/>
              </a:ext>
            </a:extLst>
          </p:cNvPr>
          <p:cNvSpPr>
            <a:spLocks noGrp="1"/>
          </p:cNvSpPr>
          <p:nvPr>
            <p:ph type="title"/>
          </p:nvPr>
        </p:nvSpPr>
        <p:spPr/>
        <p:txBody>
          <a:bodyPr/>
          <a:lstStyle/>
          <a:p>
            <a:r>
              <a:rPr lang="en-ID" dirty="0"/>
              <a:t>Preparation</a:t>
            </a:r>
            <a:endParaRPr lang="en-US" dirty="0"/>
          </a:p>
        </p:txBody>
      </p:sp>
      <p:sp>
        <p:nvSpPr>
          <p:cNvPr id="5" name="Content Placeholder 4">
            <a:extLst>
              <a:ext uri="{FF2B5EF4-FFF2-40B4-BE49-F238E27FC236}">
                <a16:creationId xmlns:a16="http://schemas.microsoft.com/office/drawing/2014/main" id="{DDD3D1EE-CA77-10E7-A5B7-E804F3D91422}"/>
              </a:ext>
            </a:extLst>
          </p:cNvPr>
          <p:cNvSpPr>
            <a:spLocks noGrp="1"/>
          </p:cNvSpPr>
          <p:nvPr>
            <p:ph idx="1"/>
          </p:nvPr>
        </p:nvSpPr>
        <p:spPr/>
        <p:txBody>
          <a:bodyPr/>
          <a:lstStyle/>
          <a:p>
            <a:r>
              <a:rPr lang="en-ID" dirty="0"/>
              <a:t>Complete the </a:t>
            </a:r>
            <a:r>
              <a:rPr lang="en-ID" dirty="0" err="1"/>
              <a:t>intallation</a:t>
            </a:r>
            <a:r>
              <a:rPr lang="en-ID" dirty="0"/>
              <a:t> and setup</a:t>
            </a:r>
            <a:endParaRPr lang="en-US" dirty="0"/>
          </a:p>
        </p:txBody>
      </p:sp>
    </p:spTree>
    <p:extLst>
      <p:ext uri="{BB962C8B-B14F-4D97-AF65-F5344CB8AC3E}">
        <p14:creationId xmlns:p14="http://schemas.microsoft.com/office/powerpoint/2010/main" val="4107611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DBB1A-E0A1-E198-A010-69D345E626A0}"/>
              </a:ext>
            </a:extLst>
          </p:cNvPr>
          <p:cNvSpPr>
            <a:spLocks noGrp="1"/>
          </p:cNvSpPr>
          <p:nvPr>
            <p:ph type="title"/>
          </p:nvPr>
        </p:nvSpPr>
        <p:spPr/>
        <p:txBody>
          <a:bodyPr/>
          <a:lstStyle/>
          <a:p>
            <a:r>
              <a:rPr lang="en-ID" dirty="0"/>
              <a:t>Lets integrate it</a:t>
            </a:r>
            <a:endParaRPr lang="en-US" dirty="0"/>
          </a:p>
        </p:txBody>
      </p:sp>
      <p:pic>
        <p:nvPicPr>
          <p:cNvPr id="10" name="Content Placeholder 9">
            <a:extLst>
              <a:ext uri="{FF2B5EF4-FFF2-40B4-BE49-F238E27FC236}">
                <a16:creationId xmlns:a16="http://schemas.microsoft.com/office/drawing/2014/main" id="{CC979B9B-6A22-A309-710B-CD3682A920E4}"/>
              </a:ext>
            </a:extLst>
          </p:cNvPr>
          <p:cNvPicPr>
            <a:picLocks noGrp="1" noChangeAspect="1"/>
          </p:cNvPicPr>
          <p:nvPr>
            <p:ph idx="1"/>
          </p:nvPr>
        </p:nvPicPr>
        <p:blipFill>
          <a:blip r:embed="rId2"/>
          <a:stretch>
            <a:fillRect/>
          </a:stretch>
        </p:blipFill>
        <p:spPr>
          <a:xfrm>
            <a:off x="2531445" y="2603500"/>
            <a:ext cx="6073422" cy="3416300"/>
          </a:xfrm>
        </p:spPr>
      </p:pic>
    </p:spTree>
    <p:extLst>
      <p:ext uri="{BB962C8B-B14F-4D97-AF65-F5344CB8AC3E}">
        <p14:creationId xmlns:p14="http://schemas.microsoft.com/office/powerpoint/2010/main" val="2166211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C2BBB44-F2D6-0F94-95FD-24516C9C4F03}"/>
              </a:ext>
            </a:extLst>
          </p:cNvPr>
          <p:cNvSpPr>
            <a:spLocks noGrp="1"/>
          </p:cNvSpPr>
          <p:nvPr>
            <p:ph type="title"/>
          </p:nvPr>
        </p:nvSpPr>
        <p:spPr/>
        <p:txBody>
          <a:bodyPr/>
          <a:lstStyle/>
          <a:p>
            <a:r>
              <a:rPr lang="en-ID" dirty="0"/>
              <a:t>References</a:t>
            </a:r>
            <a:endParaRPr lang="en-US" dirty="0"/>
          </a:p>
        </p:txBody>
      </p:sp>
      <p:sp>
        <p:nvSpPr>
          <p:cNvPr id="8" name="Content Placeholder 7">
            <a:extLst>
              <a:ext uri="{FF2B5EF4-FFF2-40B4-BE49-F238E27FC236}">
                <a16:creationId xmlns:a16="http://schemas.microsoft.com/office/drawing/2014/main" id="{3D4B5160-060D-4B00-6A74-BD9592AEFA49}"/>
              </a:ext>
            </a:extLst>
          </p:cNvPr>
          <p:cNvSpPr>
            <a:spLocks noGrp="1"/>
          </p:cNvSpPr>
          <p:nvPr>
            <p:ph idx="1"/>
          </p:nvPr>
        </p:nvSpPr>
        <p:spPr/>
        <p:txBody>
          <a:bodyPr/>
          <a:lstStyle/>
          <a:p>
            <a:r>
              <a:rPr lang="en-US" dirty="0">
                <a:hlinkClick r:id="rId2"/>
              </a:rPr>
              <a:t>https://web.archive.org/web/20121204081204/http://www.phpwact.org/pattern/template_view</a:t>
            </a:r>
            <a:endParaRPr lang="en-US" dirty="0"/>
          </a:p>
          <a:p>
            <a:r>
              <a:rPr lang="en-US" dirty="0">
                <a:hlinkClick r:id="rId3"/>
              </a:rPr>
              <a:t>https://learning.postman.com/docs/sending-requests/variables/variables/</a:t>
            </a:r>
            <a:endParaRPr lang="en-US" dirty="0"/>
          </a:p>
          <a:p>
            <a:r>
              <a:rPr lang="en-US" dirty="0">
                <a:hlinkClick r:id="rId4"/>
              </a:rPr>
              <a:t>https://community.postman.com/t/how-to-set-and-get-dynamic-environmental-variable/7482</a:t>
            </a:r>
            <a:endParaRPr lang="en-US" dirty="0"/>
          </a:p>
          <a:p>
            <a:endParaRPr lang="en-US" dirty="0"/>
          </a:p>
          <a:p>
            <a:endParaRPr lang="en-US" dirty="0"/>
          </a:p>
        </p:txBody>
      </p:sp>
    </p:spTree>
    <p:extLst>
      <p:ext uri="{BB962C8B-B14F-4D97-AF65-F5344CB8AC3E}">
        <p14:creationId xmlns:p14="http://schemas.microsoft.com/office/powerpoint/2010/main" val="2339347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6DDEF6-96B3-CD10-0AF7-AEFC2EAA14AA}"/>
              </a:ext>
            </a:extLst>
          </p:cNvPr>
          <p:cNvSpPr>
            <a:spLocks noGrp="1"/>
          </p:cNvSpPr>
          <p:nvPr>
            <p:ph type="title"/>
          </p:nvPr>
        </p:nvSpPr>
        <p:spPr/>
        <p:txBody>
          <a:bodyPr/>
          <a:lstStyle/>
          <a:p>
            <a:r>
              <a:rPr lang="en-ID" dirty="0"/>
              <a:t>More here</a:t>
            </a:r>
            <a:endParaRPr lang="en-US" dirty="0"/>
          </a:p>
        </p:txBody>
      </p:sp>
      <p:sp>
        <p:nvSpPr>
          <p:cNvPr id="6" name="Content Placeholder 5">
            <a:extLst>
              <a:ext uri="{FF2B5EF4-FFF2-40B4-BE49-F238E27FC236}">
                <a16:creationId xmlns:a16="http://schemas.microsoft.com/office/drawing/2014/main" id="{3FFD562D-F822-9330-8C58-C4370068102C}"/>
              </a:ext>
            </a:extLst>
          </p:cNvPr>
          <p:cNvSpPr>
            <a:spLocks noGrp="1"/>
          </p:cNvSpPr>
          <p:nvPr>
            <p:ph sz="half" idx="1"/>
          </p:nvPr>
        </p:nvSpPr>
        <p:spPr/>
        <p:txBody>
          <a:bodyPr/>
          <a:lstStyle/>
          <a:p>
            <a:r>
              <a:rPr lang="en-ID" dirty="0"/>
              <a:t>Discuss</a:t>
            </a:r>
          </a:p>
          <a:p>
            <a:r>
              <a:rPr lang="en-ID" dirty="0"/>
              <a:t>Ask Questions</a:t>
            </a:r>
          </a:p>
          <a:p>
            <a:r>
              <a:rPr lang="en-ID" dirty="0"/>
              <a:t>Collab</a:t>
            </a:r>
            <a:endParaRPr lang="en-US" dirty="0"/>
          </a:p>
        </p:txBody>
      </p:sp>
      <p:sp>
        <p:nvSpPr>
          <p:cNvPr id="7" name="Content Placeholder 6">
            <a:extLst>
              <a:ext uri="{FF2B5EF4-FFF2-40B4-BE49-F238E27FC236}">
                <a16:creationId xmlns:a16="http://schemas.microsoft.com/office/drawing/2014/main" id="{52A41144-F50B-A2FA-59CC-EEF28EEE61E6}"/>
              </a:ext>
            </a:extLst>
          </p:cNvPr>
          <p:cNvSpPr>
            <a:spLocks noGrp="1"/>
          </p:cNvSpPr>
          <p:nvPr>
            <p:ph sz="half" idx="2"/>
          </p:nvPr>
        </p:nvSpPr>
        <p:spPr/>
        <p:txBody>
          <a:bodyPr/>
          <a:lstStyle/>
          <a:p>
            <a:r>
              <a:rPr lang="en-US" dirty="0"/>
              <a:t>Discord:</a:t>
            </a:r>
          </a:p>
          <a:p>
            <a:r>
              <a:rPr lang="en-ID" dirty="0">
                <a:hlinkClick r:id="rId2"/>
              </a:rPr>
              <a:t>https://discord.gg/4pTNSCQbvw</a:t>
            </a:r>
            <a:r>
              <a:rPr lang="en-ID" dirty="0"/>
              <a:t> </a:t>
            </a:r>
          </a:p>
        </p:txBody>
      </p:sp>
    </p:spTree>
    <p:extLst>
      <p:ext uri="{BB962C8B-B14F-4D97-AF65-F5344CB8AC3E}">
        <p14:creationId xmlns:p14="http://schemas.microsoft.com/office/powerpoint/2010/main" val="362095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4024AD-D252-6739-9ACE-E59EF2EDC45C}"/>
              </a:ext>
            </a:extLst>
          </p:cNvPr>
          <p:cNvSpPr>
            <a:spLocks noGrp="1"/>
          </p:cNvSpPr>
          <p:nvPr>
            <p:ph type="title"/>
          </p:nvPr>
        </p:nvSpPr>
        <p:spPr/>
        <p:txBody>
          <a:bodyPr/>
          <a:lstStyle/>
          <a:p>
            <a:r>
              <a:rPr lang="en-ID" dirty="0"/>
              <a:t>Thank You</a:t>
            </a:r>
            <a:endParaRPr lang="en-US" dirty="0"/>
          </a:p>
        </p:txBody>
      </p:sp>
      <p:sp>
        <p:nvSpPr>
          <p:cNvPr id="6" name="Text Placeholder 5">
            <a:extLst>
              <a:ext uri="{FF2B5EF4-FFF2-40B4-BE49-F238E27FC236}">
                <a16:creationId xmlns:a16="http://schemas.microsoft.com/office/drawing/2014/main" id="{15B6C082-ECBF-EFA7-551F-89B683C5846A}"/>
              </a:ext>
            </a:extLst>
          </p:cNvPr>
          <p:cNvSpPr>
            <a:spLocks noGrp="1"/>
          </p:cNvSpPr>
          <p:nvPr>
            <p:ph type="body" idx="1"/>
          </p:nvPr>
        </p:nvSpPr>
        <p:spPr/>
        <p:txBody>
          <a:bodyPr>
            <a:normAutofit/>
          </a:bodyPr>
          <a:lstStyle/>
          <a:p>
            <a:r>
              <a:rPr lang="en-ID" sz="1400" dirty="0"/>
              <a:t>khenjyjohnelson123@uvers.ac.id</a:t>
            </a:r>
            <a:endParaRPr lang="en-US" sz="1400" dirty="0"/>
          </a:p>
        </p:txBody>
      </p:sp>
    </p:spTree>
    <p:extLst>
      <p:ext uri="{BB962C8B-B14F-4D97-AF65-F5344CB8AC3E}">
        <p14:creationId xmlns:p14="http://schemas.microsoft.com/office/powerpoint/2010/main" val="17162097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1382</TotalTime>
  <Words>930</Words>
  <Application>Microsoft Office PowerPoint</Application>
  <PresentationFormat>Widescreen</PresentationFormat>
  <Paragraphs>128</Paragraphs>
  <Slides>13</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Century Gothic</vt:lpstr>
      <vt:lpstr>Wingdings 3</vt:lpstr>
      <vt:lpstr>Ion Boardroom</vt:lpstr>
      <vt:lpstr>Omnitags Web Template System</vt:lpstr>
      <vt:lpstr>Outline</vt:lpstr>
      <vt:lpstr>Practical Application</vt:lpstr>
      <vt:lpstr>Building a simple web page</vt:lpstr>
      <vt:lpstr>Preparation</vt:lpstr>
      <vt:lpstr>Doing it</vt:lpstr>
      <vt:lpstr>Practical Application</vt:lpstr>
      <vt:lpstr>Integrating with a backend</vt:lpstr>
      <vt:lpstr>Preparation</vt:lpstr>
      <vt:lpstr>Lets integrate it</vt:lpstr>
      <vt:lpstr>References</vt:lpstr>
      <vt:lpstr>More here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Khenjy Johnelson</dc:creator>
  <cp:lastModifiedBy>Khenjy Johnelson</cp:lastModifiedBy>
  <cp:revision>7</cp:revision>
  <dcterms:created xsi:type="dcterms:W3CDTF">2024-07-20T00:45:46Z</dcterms:created>
  <dcterms:modified xsi:type="dcterms:W3CDTF">2024-07-21T04:33:43Z</dcterms:modified>
</cp:coreProperties>
</file>