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7"/>
  </p:notesMasterIdLst>
  <p:sldIdLst>
    <p:sldId id="256" r:id="rId2"/>
    <p:sldId id="269" r:id="rId3"/>
    <p:sldId id="307" r:id="rId4"/>
    <p:sldId id="317" r:id="rId5"/>
    <p:sldId id="318" r:id="rId6"/>
    <p:sldId id="323" r:id="rId7"/>
    <p:sldId id="325" r:id="rId8"/>
    <p:sldId id="326" r:id="rId9"/>
    <p:sldId id="324" r:id="rId10"/>
    <p:sldId id="309" r:id="rId11"/>
    <p:sldId id="257" r:id="rId12"/>
    <p:sldId id="312" r:id="rId13"/>
    <p:sldId id="313" r:id="rId14"/>
    <p:sldId id="315" r:id="rId15"/>
    <p:sldId id="314" r:id="rId16"/>
    <p:sldId id="311" r:id="rId17"/>
    <p:sldId id="319" r:id="rId18"/>
    <p:sldId id="320" r:id="rId19"/>
    <p:sldId id="322" r:id="rId20"/>
    <p:sldId id="321" r:id="rId21"/>
    <p:sldId id="310" r:id="rId22"/>
    <p:sldId id="329" r:id="rId23"/>
    <p:sldId id="335" r:id="rId24"/>
    <p:sldId id="336" r:id="rId25"/>
    <p:sldId id="316" r:id="rId26"/>
    <p:sldId id="327" r:id="rId27"/>
    <p:sldId id="333" r:id="rId28"/>
    <p:sldId id="334" r:id="rId29"/>
    <p:sldId id="328" r:id="rId30"/>
    <p:sldId id="330" r:id="rId31"/>
    <p:sldId id="332" r:id="rId32"/>
    <p:sldId id="331" r:id="rId33"/>
    <p:sldId id="272" r:id="rId34"/>
    <p:sldId id="271" r:id="rId35"/>
    <p:sldId id="306"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CFD3D38-81AD-41ED-83CE-CC0E0F268B82}">
          <p14:sldIdLst>
            <p14:sldId id="256"/>
            <p14:sldId id="269"/>
          </p14:sldIdLst>
        </p14:section>
        <p14:section name="Part 1" id="{E962C510-A4BE-46B6-8132-F072F9239DCF}">
          <p14:sldIdLst>
            <p14:sldId id="307"/>
          </p14:sldIdLst>
        </p14:section>
        <p14:section name="Who Am I" id="{8C6191C6-690D-4345-832E-B74C4632A8F9}">
          <p14:sldIdLst>
            <p14:sldId id="317"/>
            <p14:sldId id="318"/>
          </p14:sldIdLst>
        </p14:section>
        <p14:section name="Why I made this course" id="{5EC4DDEA-ED44-4467-84F0-321E6E385A9B}">
          <p14:sldIdLst>
            <p14:sldId id="323"/>
            <p14:sldId id="325"/>
            <p14:sldId id="326"/>
          </p14:sldIdLst>
        </p14:section>
        <p14:section name="Part 2" id="{D67C6E07-4D07-4266-A42D-FDE8010E6E6E}">
          <p14:sldIdLst>
            <p14:sldId id="324"/>
          </p14:sldIdLst>
        </p14:section>
        <p14:section name="How most software development works (at the core of it)" id="{E6781B3A-AE64-4F95-A1B5-9C029C12373B}">
          <p14:sldIdLst>
            <p14:sldId id="309"/>
            <p14:sldId id="257"/>
            <p14:sldId id="312"/>
            <p14:sldId id="313"/>
          </p14:sldIdLst>
        </p14:section>
        <p14:section name="Part 3" id="{D6C3E3DF-7E18-4F7A-9D81-C46001501C3E}">
          <p14:sldIdLst>
            <p14:sldId id="315"/>
          </p14:sldIdLst>
        </p14:section>
        <p14:section name="5W + 1H" id="{74934583-D20A-4092-856B-908387C2279C}">
          <p14:sldIdLst>
            <p14:sldId id="314"/>
            <p14:sldId id="311"/>
            <p14:sldId id="319"/>
            <p14:sldId id="320"/>
            <p14:sldId id="322"/>
            <p14:sldId id="321"/>
          </p14:sldIdLst>
        </p14:section>
        <p14:section name="Environment Variable" id="{F0A90D84-3FEC-41BB-B1B4-D025E73A147B}">
          <p14:sldIdLst>
            <p14:sldId id="310"/>
            <p14:sldId id="329"/>
            <p14:sldId id="335"/>
            <p14:sldId id="336"/>
          </p14:sldIdLst>
        </p14:section>
        <p14:section name="Part 4" id="{E1A4069D-6B4A-44BD-811F-0BC5DD02B2B3}">
          <p14:sldIdLst>
            <p14:sldId id="316"/>
          </p14:sldIdLst>
        </p14:section>
        <p14:section name="How it came to picture" id="{742BB302-2C42-45E9-BCCB-9E2FDEB7E801}">
          <p14:sldIdLst>
            <p14:sldId id="327"/>
            <p14:sldId id="333"/>
            <p14:sldId id="334"/>
          </p14:sldIdLst>
        </p14:section>
        <p14:section name="My tech preference and reasons" id="{A493CA6B-021C-4C0E-AF54-482A882232D6}">
          <p14:sldIdLst>
            <p14:sldId id="328"/>
            <p14:sldId id="330"/>
            <p14:sldId id="332"/>
            <p14:sldId id="331"/>
          </p14:sldIdLst>
        </p14:section>
        <p14:section name="End" id="{2268E56B-AA4A-47BC-AB70-3DEC1816D7E6}">
          <p14:sldIdLst>
            <p14:sldId id="272"/>
            <p14:sldId id="271"/>
            <p14:sldId id="30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2581" autoAdjust="0"/>
  </p:normalViewPr>
  <p:slideViewPr>
    <p:cSldViewPr snapToGrid="0">
      <p:cViewPr varScale="1">
        <p:scale>
          <a:sx n="50" d="100"/>
          <a:sy n="50" d="100"/>
        </p:scale>
        <p:origin x="1284" y="3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5" d="100"/>
          <a:sy n="55" d="100"/>
        </p:scale>
        <p:origin x="2604" y="4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C86216-81B5-4C06-9EC9-FC9ADCCB325A}" type="datetimeFigureOut">
              <a:rPr lang="en-US" smtClean="0"/>
              <a:t>11/14/2024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447EE9-9A9E-4921-B73D-E95FD704B33A}" type="slidenum">
              <a:rPr lang="en-US" smtClean="0"/>
              <a:t>‹#›</a:t>
            </a:fld>
            <a:endParaRPr lang="en-US"/>
          </a:p>
        </p:txBody>
      </p:sp>
    </p:spTree>
    <p:extLst>
      <p:ext uri="{BB962C8B-B14F-4D97-AF65-F5344CB8AC3E}">
        <p14:creationId xmlns:p14="http://schemas.microsoft.com/office/powerpoint/2010/main" val="11924273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a web template engine that is unfamiliar to most people can be challenging, especially if the instructor is already very comfortable with it. </a:t>
            </a:r>
          </a:p>
          <a:p>
            <a:r>
              <a:rPr lang="en-US" dirty="0"/>
              <a:t>### Example Outline for a Teaching Session</a:t>
            </a:r>
          </a:p>
          <a:p>
            <a:endParaRPr lang="en-US" dirty="0"/>
          </a:p>
          <a:p>
            <a:r>
              <a:rPr lang="en-US" dirty="0"/>
              <a:t>1. *Introduction to Template Engines*</a:t>
            </a:r>
          </a:p>
          <a:p>
            <a:r>
              <a:rPr lang="en-US" dirty="0"/>
              <a:t>   - What is a template engine?</a:t>
            </a:r>
          </a:p>
          <a:p>
            <a:r>
              <a:rPr lang="en-US" dirty="0"/>
              <a:t>   - Benefits of using a template engine</a:t>
            </a:r>
          </a:p>
          <a:p>
            <a:endParaRPr lang="en-US" dirty="0"/>
          </a:p>
          <a:p>
            <a:r>
              <a:rPr lang="en-US" dirty="0"/>
              <a:t>2. *Getting Started*</a:t>
            </a:r>
          </a:p>
          <a:p>
            <a:r>
              <a:rPr lang="en-US" dirty="0"/>
              <a:t>   - Installation and setup</a:t>
            </a:r>
          </a:p>
          <a:p>
            <a:r>
              <a:rPr lang="en-US" dirty="0"/>
              <a:t>   - Basic syntax and structure</a:t>
            </a:r>
          </a:p>
          <a:p>
            <a:endParaRPr lang="en-US" dirty="0"/>
          </a:p>
          <a:p>
            <a:r>
              <a:rPr lang="en-US" dirty="0"/>
              <a:t>3. *Core Features*</a:t>
            </a:r>
          </a:p>
          <a:p>
            <a:r>
              <a:rPr lang="en-US" dirty="0"/>
              <a:t>   - Variables and expressions</a:t>
            </a:r>
          </a:p>
          <a:p>
            <a:r>
              <a:rPr lang="en-US" dirty="0"/>
              <a:t>   - Loops and conditionals</a:t>
            </a:r>
          </a:p>
          <a:p>
            <a:endParaRPr lang="en-US" dirty="0"/>
          </a:p>
          <a:p>
            <a:r>
              <a:rPr lang="en-US" dirty="0"/>
              <a:t>4. *Advanced Topics*</a:t>
            </a:r>
          </a:p>
          <a:p>
            <a:r>
              <a:rPr lang="en-US" dirty="0"/>
              <a:t>   - Partial templates and includes</a:t>
            </a:r>
          </a:p>
          <a:p>
            <a:r>
              <a:rPr lang="en-US" dirty="0"/>
              <a:t>   - Template inheritance</a:t>
            </a:r>
          </a:p>
          <a:p>
            <a:endParaRPr lang="en-US" dirty="0"/>
          </a:p>
          <a:p>
            <a:r>
              <a:rPr lang="en-US" dirty="0"/>
              <a:t>5. *Practical Application*</a:t>
            </a:r>
          </a:p>
          <a:p>
            <a:r>
              <a:rPr lang="en-US" dirty="0"/>
              <a:t>   - Building a simple web page</a:t>
            </a:r>
          </a:p>
          <a:p>
            <a:r>
              <a:rPr lang="en-US" dirty="0"/>
              <a:t>   - Integrating with a backend</a:t>
            </a:r>
          </a:p>
          <a:p>
            <a:endParaRPr lang="en-US" dirty="0"/>
          </a:p>
          <a:p>
            <a:r>
              <a:rPr lang="en-US" dirty="0"/>
              <a:t>6. *Hands-On Workshop*</a:t>
            </a:r>
          </a:p>
          <a:p>
            <a:r>
              <a:rPr lang="en-US" dirty="0"/>
              <a:t>   - Live coding session</a:t>
            </a:r>
          </a:p>
          <a:p>
            <a:r>
              <a:rPr lang="en-US" dirty="0"/>
              <a:t>   - Interactive exercises</a:t>
            </a:r>
          </a:p>
          <a:p>
            <a:endParaRPr lang="en-US" dirty="0"/>
          </a:p>
          <a:p>
            <a:r>
              <a:rPr lang="en-US" dirty="0"/>
              <a:t>7. *Q&amp;A and Discussion*</a:t>
            </a:r>
          </a:p>
          <a:p>
            <a:r>
              <a:rPr lang="en-US" dirty="0"/>
              <a:t>   - Addressing common issues</a:t>
            </a:r>
          </a:p>
          <a:p>
            <a:r>
              <a:rPr lang="en-US" dirty="0"/>
              <a:t>   - Sharing tips and best practices</a:t>
            </a:r>
          </a:p>
          <a:p>
            <a:endParaRPr lang="en-US" dirty="0"/>
          </a:p>
          <a:p>
            <a:r>
              <a:rPr lang="en-US" dirty="0"/>
              <a:t>By following these strategies, you can effectively teach a web template engine, even if it is unfamiliar to most of your audience. The key is to break down the learning process, provide ample practice opportunities, and relate new concepts to familiar ones.</a:t>
            </a:r>
          </a:p>
          <a:p>
            <a:endParaRPr lang="en-US" dirty="0"/>
          </a:p>
          <a:p>
            <a:r>
              <a:rPr lang="en-US" dirty="0"/>
              <a:t>Here are some strategies to effectively teach such a tool:</a:t>
            </a:r>
          </a:p>
          <a:p>
            <a:endParaRPr lang="en-US" dirty="0"/>
          </a:p>
          <a:p>
            <a:r>
              <a:rPr lang="en-US" dirty="0"/>
              <a:t>### 1. *Start with the Basics*</a:t>
            </a:r>
          </a:p>
          <a:p>
            <a:r>
              <a:rPr lang="en-US" dirty="0"/>
              <a:t>   - *Introduction*: Begin with a clear explanation of what a template engine is and why it is useful. </a:t>
            </a:r>
          </a:p>
          <a:p>
            <a:r>
              <a:rPr lang="en-US" dirty="0"/>
              <a:t>   - *Use Cases*: Provide real-world examples where the template engine simplifies tasks.</a:t>
            </a:r>
          </a:p>
          <a:p>
            <a:endParaRPr lang="en-US" dirty="0"/>
          </a:p>
          <a:p>
            <a:r>
              <a:rPr lang="en-US" dirty="0"/>
              <a:t>### 2. *Break Down the Learning Process*</a:t>
            </a:r>
          </a:p>
          <a:p>
            <a:r>
              <a:rPr lang="en-US" dirty="0"/>
              <a:t>   - *Basic Syntax and Concepts*: Start with the basic syntax and fundamental concepts. Use simple examples to illustrate each concept.</a:t>
            </a:r>
          </a:p>
          <a:p>
            <a:r>
              <a:rPr lang="en-US" dirty="0"/>
              <a:t>   - *Progressive Complexity*: Gradually introduce more complex features and scenarios.</a:t>
            </a:r>
          </a:p>
          <a:p>
            <a:endParaRPr lang="en-US" dirty="0"/>
          </a:p>
          <a:p>
            <a:r>
              <a:rPr lang="en-US" dirty="0"/>
              <a:t>### 3. *Use Visual Aids*</a:t>
            </a:r>
          </a:p>
          <a:p>
            <a:r>
              <a:rPr lang="en-US" dirty="0"/>
              <a:t>   - *Diagrams and Flowcharts*: Use diagrams to explain how the template engine processes data and generates HTML.</a:t>
            </a:r>
          </a:p>
          <a:p>
            <a:r>
              <a:rPr lang="en-US" dirty="0"/>
              <a:t>   - *Code Snippets*: Show side-by-side comparisons of code before and after applying the template engine.</a:t>
            </a:r>
          </a:p>
          <a:p>
            <a:endParaRPr lang="en-US" dirty="0"/>
          </a:p>
          <a:p>
            <a:r>
              <a:rPr lang="en-US" dirty="0"/>
              <a:t>### 4. *Hands-On Practice*</a:t>
            </a:r>
          </a:p>
          <a:p>
            <a:r>
              <a:rPr lang="en-US" dirty="0"/>
              <a:t>   - *Live Coding*: Demonstrate coding live to show the process in real-time.</a:t>
            </a:r>
          </a:p>
          <a:p>
            <a:r>
              <a:rPr lang="en-US" dirty="0"/>
              <a:t>   - *Interactive Exercises*: Provide exercises for students to practice what they’ve learned. Use pair programming to encourage collaboration.</a:t>
            </a:r>
          </a:p>
          <a:p>
            <a:endParaRPr lang="en-US" dirty="0"/>
          </a:p>
          <a:p>
            <a:r>
              <a:rPr lang="en-US" dirty="0"/>
              <a:t>### 5. *Provide Clear Documentation*</a:t>
            </a:r>
          </a:p>
          <a:p>
            <a:r>
              <a:rPr lang="en-US" dirty="0"/>
              <a:t>   - *Cheat Sheets*: Create cheat sheets with common syntax and commands.</a:t>
            </a:r>
          </a:p>
          <a:p>
            <a:r>
              <a:rPr lang="en-US" dirty="0"/>
              <a:t>   - *Step-by-Step Guides*: Offer detailed guides that walk through the process of setting up and using the template engine.</a:t>
            </a:r>
          </a:p>
          <a:p>
            <a:endParaRPr lang="en-US" dirty="0"/>
          </a:p>
          <a:p>
            <a:r>
              <a:rPr lang="en-US" dirty="0"/>
              <a:t>### 6. *Encourage Questions and Discussions*</a:t>
            </a:r>
          </a:p>
          <a:p>
            <a:r>
              <a:rPr lang="en-US" dirty="0"/>
              <a:t>   - *Q&amp;A Sessions*: Allow time for students to ask questions and discuss challenges.</a:t>
            </a:r>
          </a:p>
          <a:p>
            <a:r>
              <a:rPr lang="en-US" dirty="0"/>
              <a:t>   - *Discussion Forums*: Use forums or chat groups to facilitate ongoing discussion and support.</a:t>
            </a:r>
          </a:p>
          <a:p>
            <a:endParaRPr lang="en-US" dirty="0"/>
          </a:p>
          <a:p>
            <a:r>
              <a:rPr lang="en-US" dirty="0"/>
              <a:t>### 7. *Relate to Known Concepts*</a:t>
            </a:r>
          </a:p>
          <a:p>
            <a:r>
              <a:rPr lang="en-US" dirty="0"/>
              <a:t>   - *Analogies and Comparisons*: Relate the template engine to concepts students already know (e.g., comparing it to other template engines or programming paradigms).</a:t>
            </a:r>
          </a:p>
          <a:p>
            <a:endParaRPr lang="en-US" dirty="0"/>
          </a:p>
          <a:p>
            <a:r>
              <a:rPr lang="en-US" dirty="0"/>
              <a:t>### 8. *Real-World Projects*</a:t>
            </a:r>
          </a:p>
          <a:p>
            <a:r>
              <a:rPr lang="en-US" dirty="0"/>
              <a:t>   - *Project-Based Learning*: Assign projects that require students to use the template engine to solve problems.</a:t>
            </a:r>
          </a:p>
          <a:p>
            <a:r>
              <a:rPr lang="en-US" dirty="0"/>
              <a:t>   - *Incremental Projects*: Break projects into smaller, manageable tasks that build on each other.</a:t>
            </a:r>
          </a:p>
          <a:p>
            <a:endParaRPr lang="en-US" dirty="0"/>
          </a:p>
          <a:p>
            <a:r>
              <a:rPr lang="en-US" dirty="0"/>
              <a:t>### 9. *Feedback and Iteration*</a:t>
            </a:r>
          </a:p>
          <a:p>
            <a:r>
              <a:rPr lang="en-US" dirty="0"/>
              <a:t>   - *Regular Feedback*: Provide regular feedback on assignments and projects.</a:t>
            </a:r>
          </a:p>
          <a:p>
            <a:r>
              <a:rPr lang="en-US" dirty="0"/>
              <a:t>   - *Iterate and Improve*: Use feedback to improve the teaching approach and materials.</a:t>
            </a:r>
          </a:p>
          <a:p>
            <a:endParaRPr lang="en-US" dirty="0"/>
          </a:p>
          <a:p>
            <a:r>
              <a:rPr lang="en-US" dirty="0"/>
              <a:t>### 10. *Showcase Benefits*</a:t>
            </a:r>
          </a:p>
          <a:p>
            <a:r>
              <a:rPr lang="en-US" dirty="0"/>
              <a:t>   - *Performance and Efficiency*: Demonstrate how the template engine improves performance and development efficiency.</a:t>
            </a:r>
          </a:p>
          <a:p>
            <a:r>
              <a:rPr lang="en-US" dirty="0"/>
              <a:t>   - *Case Studies*: Share case studies or testimonials from companies or projects that have successfully used the template engine.</a:t>
            </a:r>
          </a:p>
          <a:p>
            <a:endParaRPr lang="en-US" dirty="0"/>
          </a:p>
        </p:txBody>
      </p:sp>
      <p:sp>
        <p:nvSpPr>
          <p:cNvPr id="4" name="Slide Number Placeholder 3"/>
          <p:cNvSpPr>
            <a:spLocks noGrp="1"/>
          </p:cNvSpPr>
          <p:nvPr>
            <p:ph type="sldNum" sz="quarter" idx="5"/>
          </p:nvPr>
        </p:nvSpPr>
        <p:spPr/>
        <p:txBody>
          <a:bodyPr/>
          <a:lstStyle/>
          <a:p>
            <a:fld id="{4E447EE9-9A9E-4921-B73D-E95FD704B33A}" type="slidenum">
              <a:rPr lang="en-US" smtClean="0"/>
              <a:t>1</a:t>
            </a:fld>
            <a:endParaRPr lang="en-US"/>
          </a:p>
        </p:txBody>
      </p:sp>
    </p:spTree>
    <p:extLst>
      <p:ext uri="{BB962C8B-B14F-4D97-AF65-F5344CB8AC3E}">
        <p14:creationId xmlns:p14="http://schemas.microsoft.com/office/powerpoint/2010/main" val="8575989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E447EE9-9A9E-4921-B73D-E95FD704B33A}" type="slidenum">
              <a:rPr lang="en-US" smtClean="0"/>
              <a:t>2</a:t>
            </a:fld>
            <a:endParaRPr lang="en-US"/>
          </a:p>
        </p:txBody>
      </p:sp>
    </p:spTree>
    <p:extLst>
      <p:ext uri="{BB962C8B-B14F-4D97-AF65-F5344CB8AC3E}">
        <p14:creationId xmlns:p14="http://schemas.microsoft.com/office/powerpoint/2010/main" val="24462544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6998D-79A9-F930-F385-122570DB67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568B22-9C9F-D119-3A98-0C802AE1EC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3C178A-199E-E279-0300-0AC5D012595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561D70C-EB4B-B72E-CCCD-181CDEF0BE42}"/>
              </a:ext>
            </a:extLst>
          </p:cNvPr>
          <p:cNvSpPr>
            <a:spLocks noGrp="1"/>
          </p:cNvSpPr>
          <p:nvPr>
            <p:ph type="sldNum" sz="quarter" idx="5"/>
          </p:nvPr>
        </p:nvSpPr>
        <p:spPr/>
        <p:txBody>
          <a:bodyPr/>
          <a:lstStyle/>
          <a:p>
            <a:fld id="{4E447EE9-9A9E-4921-B73D-E95FD704B33A}" type="slidenum">
              <a:rPr lang="en-US" smtClean="0"/>
              <a:t>5</a:t>
            </a:fld>
            <a:endParaRPr lang="en-US"/>
          </a:p>
        </p:txBody>
      </p:sp>
    </p:spTree>
    <p:extLst>
      <p:ext uri="{BB962C8B-B14F-4D97-AF65-F5344CB8AC3E}">
        <p14:creationId xmlns:p14="http://schemas.microsoft.com/office/powerpoint/2010/main" val="20327369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E447EE9-9A9E-4921-B73D-E95FD704B33A}" type="slidenum">
              <a:rPr lang="en-US" smtClean="0"/>
              <a:t>6</a:t>
            </a:fld>
            <a:endParaRPr lang="en-US"/>
          </a:p>
        </p:txBody>
      </p:sp>
    </p:spTree>
    <p:extLst>
      <p:ext uri="{BB962C8B-B14F-4D97-AF65-F5344CB8AC3E}">
        <p14:creationId xmlns:p14="http://schemas.microsoft.com/office/powerpoint/2010/main" val="39828303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C8F4C-A1A9-8ABB-1BA1-0C8537E06A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4E13A5-4940-66F5-DE26-90085B418F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004813-3885-A70D-70AF-4BBE948C98E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2662E83-B53A-6964-4BF5-8B9B63103010}"/>
              </a:ext>
            </a:extLst>
          </p:cNvPr>
          <p:cNvSpPr>
            <a:spLocks noGrp="1"/>
          </p:cNvSpPr>
          <p:nvPr>
            <p:ph type="sldNum" sz="quarter" idx="5"/>
          </p:nvPr>
        </p:nvSpPr>
        <p:spPr/>
        <p:txBody>
          <a:bodyPr/>
          <a:lstStyle/>
          <a:p>
            <a:fld id="{4E447EE9-9A9E-4921-B73D-E95FD704B33A}" type="slidenum">
              <a:rPr lang="en-US" smtClean="0"/>
              <a:t>7</a:t>
            </a:fld>
            <a:endParaRPr lang="en-US"/>
          </a:p>
        </p:txBody>
      </p:sp>
    </p:spTree>
    <p:extLst>
      <p:ext uri="{BB962C8B-B14F-4D97-AF65-F5344CB8AC3E}">
        <p14:creationId xmlns:p14="http://schemas.microsoft.com/office/powerpoint/2010/main" val="27711964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E447EE9-9A9E-4921-B73D-E95FD704B33A}" type="slidenum">
              <a:rPr lang="en-US" smtClean="0"/>
              <a:t>11</a:t>
            </a:fld>
            <a:endParaRPr lang="en-US"/>
          </a:p>
        </p:txBody>
      </p:sp>
    </p:spTree>
    <p:extLst>
      <p:ext uri="{BB962C8B-B14F-4D97-AF65-F5344CB8AC3E}">
        <p14:creationId xmlns:p14="http://schemas.microsoft.com/office/powerpoint/2010/main" val="46612852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2E6A3C46-8496-460C-922A-2BB90B28B118}" type="datetimeFigureOut">
              <a:rPr lang="en-US" smtClean="0"/>
              <a:t>11/14/2024</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32833576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6A3C46-8496-460C-922A-2BB90B28B118}" type="datetimeFigureOut">
              <a:rPr lang="en-US" smtClean="0"/>
              <a:t>11/14/2024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14825804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6A3C46-8496-460C-922A-2BB90B28B118}" type="datetimeFigureOut">
              <a:rPr lang="en-US" smtClean="0"/>
              <a:t>11/14/2024</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270222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E6A3C46-8496-460C-922A-2BB90B28B118}" type="datetimeFigureOut">
              <a:rPr lang="en-US" smtClean="0"/>
              <a:t>11/14/2024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41863328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E6A3C46-8496-460C-922A-2BB90B28B118}" type="datetimeFigureOut">
              <a:rPr lang="en-US" smtClean="0"/>
              <a:t>11/14/2024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32833689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E6A3C46-8496-460C-922A-2BB90B28B118}" type="datetimeFigureOut">
              <a:rPr lang="en-US" smtClean="0"/>
              <a:t>11/14/2024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31912385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E6A3C46-8496-460C-922A-2BB90B28B118}" type="datetimeFigureOut">
              <a:rPr lang="en-US" smtClean="0"/>
              <a:t>11/14/2024</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2085505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E6A3C46-8496-460C-922A-2BB90B28B118}" type="datetimeFigureOut">
              <a:rPr lang="en-US" smtClean="0"/>
              <a:t>11/14/2024</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13286929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E6A3C46-8496-460C-922A-2BB90B28B118}" type="datetimeFigureOut">
              <a:rPr lang="en-US" smtClean="0"/>
              <a:t>11/14/2024</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6788499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E6A3C46-8496-460C-922A-2BB90B28B118}" type="datetimeFigureOut">
              <a:rPr lang="en-US" smtClean="0"/>
              <a:t>11/14/2024</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379459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E6A3C46-8496-460C-922A-2BB90B28B118}" type="datetimeFigureOut">
              <a:rPr lang="en-US" smtClean="0"/>
              <a:t>11/14/2024</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13139078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E6A3C46-8496-460C-922A-2BB90B28B118}" type="datetimeFigureOut">
              <a:rPr lang="en-US" smtClean="0"/>
              <a:t>11/14/2024</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27372437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6A3C46-8496-460C-922A-2BB90B28B118}" type="datetimeFigureOut">
              <a:rPr lang="en-US" smtClean="0"/>
              <a:t>11/14/2024</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8448714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2E6A3C46-8496-460C-922A-2BB90B28B118}" type="datetimeFigureOut">
              <a:rPr lang="en-US" smtClean="0"/>
              <a:t>11/14/2024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4333390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2E6A3C46-8496-460C-922A-2BB90B28B118}" type="datetimeFigureOut">
              <a:rPr lang="en-US" smtClean="0"/>
              <a:t>11/14/2024</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33908630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2E6A3C46-8496-460C-922A-2BB90B28B118}" type="datetimeFigureOut">
              <a:rPr lang="en-US" smtClean="0"/>
              <a:t>11/14/2024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1966651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2E6A3C46-8496-460C-922A-2BB90B28B118}" type="datetimeFigureOut">
              <a:rPr lang="en-US" smtClean="0"/>
              <a:t>11/14/2024</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24431516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E6A3C46-8496-460C-922A-2BB90B28B118}" type="datetimeFigureOut">
              <a:rPr lang="en-US" smtClean="0"/>
              <a:t>11/14/2024</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0F3F7ECA-16D3-4253-BA01-16C429A59419}" type="slidenum">
              <a:rPr lang="en-US" smtClean="0"/>
              <a:t>‹#›</a:t>
            </a:fld>
            <a:endParaRPr lang="en-US"/>
          </a:p>
        </p:txBody>
      </p:sp>
    </p:spTree>
    <p:extLst>
      <p:ext uri="{BB962C8B-B14F-4D97-AF65-F5344CB8AC3E}">
        <p14:creationId xmlns:p14="http://schemas.microsoft.com/office/powerpoint/2010/main" val="35414414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4.xml"/><Relationship Id="rId4" Type="http://schemas.openxmlformats.org/officeDocument/2006/relationships/image" Target="../media/image15.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hyperlink" Target="https://learning.postman.com/docs/sending-requests/variables/variables/" TargetMode="External"/><Relationship Id="rId2" Type="http://schemas.openxmlformats.org/officeDocument/2006/relationships/hyperlink" Target="https://web.archive.org/web/20121204081204/http:/www.phpwact.org/pattern/template_view" TargetMode="External"/><Relationship Id="rId1" Type="http://schemas.openxmlformats.org/officeDocument/2006/relationships/slideLayout" Target="../slideLayouts/slideLayout2.xml"/><Relationship Id="rId4" Type="http://schemas.openxmlformats.org/officeDocument/2006/relationships/hyperlink" Target="https://community.postman.com/t/how-to-set-and-get-dynamic-environmental-variable/7482" TargetMode="External"/></Relationships>
</file>

<file path=ppt/slides/_rels/slide34.xml.rels><?xml version="1.0" encoding="UTF-8" standalone="yes"?>
<Relationships xmlns="http://schemas.openxmlformats.org/package/2006/relationships"><Relationship Id="rId2" Type="http://schemas.openxmlformats.org/officeDocument/2006/relationships/hyperlink" Target="https://discord.gg/4pTNSCQbvw" TargetMode="Externa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A824E-4681-28C1-DC9C-152794B791F1}"/>
              </a:ext>
            </a:extLst>
          </p:cNvPr>
          <p:cNvSpPr>
            <a:spLocks noGrp="1"/>
          </p:cNvSpPr>
          <p:nvPr>
            <p:ph type="ctrTitle"/>
          </p:nvPr>
        </p:nvSpPr>
        <p:spPr/>
        <p:txBody>
          <a:bodyPr/>
          <a:lstStyle/>
          <a:p>
            <a:r>
              <a:rPr lang="en-ID" dirty="0"/>
              <a:t>Introduction before the </a:t>
            </a:r>
            <a:r>
              <a:rPr lang="en-ID" dirty="0" err="1"/>
              <a:t>Omnitags</a:t>
            </a:r>
            <a:endParaRPr lang="en-US" dirty="0"/>
          </a:p>
        </p:txBody>
      </p:sp>
      <p:sp>
        <p:nvSpPr>
          <p:cNvPr id="3" name="Subtitle 2">
            <a:extLst>
              <a:ext uri="{FF2B5EF4-FFF2-40B4-BE49-F238E27FC236}">
                <a16:creationId xmlns:a16="http://schemas.microsoft.com/office/drawing/2014/main" id="{D351EAEE-754F-1FE9-02D4-E0E56E47C69A}"/>
              </a:ext>
            </a:extLst>
          </p:cNvPr>
          <p:cNvSpPr>
            <a:spLocks noGrp="1"/>
          </p:cNvSpPr>
          <p:nvPr>
            <p:ph type="subTitle" idx="1"/>
          </p:nvPr>
        </p:nvSpPr>
        <p:spPr/>
        <p:txBody>
          <a:bodyPr/>
          <a:lstStyle/>
          <a:p>
            <a:r>
              <a:rPr lang="en-ID" dirty="0"/>
              <a:t>Khenjy Johnelson</a:t>
            </a:r>
            <a:endParaRPr lang="en-US" dirty="0"/>
          </a:p>
        </p:txBody>
      </p:sp>
    </p:spTree>
    <p:extLst>
      <p:ext uri="{BB962C8B-B14F-4D97-AF65-F5344CB8AC3E}">
        <p14:creationId xmlns:p14="http://schemas.microsoft.com/office/powerpoint/2010/main" val="19936565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E471C-A5F3-8062-0E92-F06A8E873170}"/>
              </a:ext>
            </a:extLst>
          </p:cNvPr>
          <p:cNvSpPr>
            <a:spLocks noGrp="1"/>
          </p:cNvSpPr>
          <p:nvPr>
            <p:ph type="title"/>
          </p:nvPr>
        </p:nvSpPr>
        <p:spPr/>
        <p:txBody>
          <a:bodyPr/>
          <a:lstStyle/>
          <a:p>
            <a:r>
              <a:rPr lang="en-ID" dirty="0"/>
              <a:t>Outline</a:t>
            </a:r>
            <a:endParaRPr lang="en-US" dirty="0"/>
          </a:p>
        </p:txBody>
      </p:sp>
      <p:sp>
        <p:nvSpPr>
          <p:cNvPr id="3" name="Content Placeholder 2">
            <a:extLst>
              <a:ext uri="{FF2B5EF4-FFF2-40B4-BE49-F238E27FC236}">
                <a16:creationId xmlns:a16="http://schemas.microsoft.com/office/drawing/2014/main" id="{7A17C4DA-81EA-634F-D32E-AB56A7C1CD1A}"/>
              </a:ext>
            </a:extLst>
          </p:cNvPr>
          <p:cNvSpPr>
            <a:spLocks noGrp="1"/>
          </p:cNvSpPr>
          <p:nvPr>
            <p:ph idx="1"/>
          </p:nvPr>
        </p:nvSpPr>
        <p:spPr/>
        <p:txBody>
          <a:bodyPr/>
          <a:lstStyle/>
          <a:p>
            <a:r>
              <a:rPr lang="en-ID" b="1" dirty="0"/>
              <a:t>Part 1:Preface</a:t>
            </a:r>
          </a:p>
          <a:p>
            <a:r>
              <a:rPr lang="en-ID" b="1" dirty="0"/>
              <a:t>Part 2: Introduction</a:t>
            </a:r>
          </a:p>
          <a:p>
            <a:r>
              <a:rPr lang="en-ID" b="1" dirty="0"/>
              <a:t>Part 3: The Thing about Global Variable</a:t>
            </a:r>
          </a:p>
          <a:p>
            <a:r>
              <a:rPr lang="en-ID" b="1" dirty="0"/>
              <a:t>Part 4: My Story</a:t>
            </a:r>
            <a:endParaRPr lang="en-US" dirty="0"/>
          </a:p>
        </p:txBody>
      </p:sp>
    </p:spTree>
    <p:extLst>
      <p:ext uri="{BB962C8B-B14F-4D97-AF65-F5344CB8AC3E}">
        <p14:creationId xmlns:p14="http://schemas.microsoft.com/office/powerpoint/2010/main" val="20583729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0C498E6-95FD-ABC1-773B-C8B039F4CD98}"/>
              </a:ext>
            </a:extLst>
          </p:cNvPr>
          <p:cNvSpPr>
            <a:spLocks noGrp="1"/>
          </p:cNvSpPr>
          <p:nvPr>
            <p:ph type="title"/>
          </p:nvPr>
        </p:nvSpPr>
        <p:spPr/>
        <p:txBody>
          <a:bodyPr/>
          <a:lstStyle/>
          <a:p>
            <a:r>
              <a:rPr lang="en-ID" dirty="0"/>
              <a:t>Preface</a:t>
            </a:r>
            <a:endParaRPr lang="en-US" dirty="0"/>
          </a:p>
        </p:txBody>
      </p:sp>
      <p:sp>
        <p:nvSpPr>
          <p:cNvPr id="6" name="Text Placeholder 5">
            <a:extLst>
              <a:ext uri="{FF2B5EF4-FFF2-40B4-BE49-F238E27FC236}">
                <a16:creationId xmlns:a16="http://schemas.microsoft.com/office/drawing/2014/main" id="{C6EFBF5A-1319-D092-7624-3E0CF5FA313E}"/>
              </a:ext>
            </a:extLst>
          </p:cNvPr>
          <p:cNvSpPr>
            <a:spLocks noGrp="1"/>
          </p:cNvSpPr>
          <p:nvPr>
            <p:ph type="body" idx="1"/>
          </p:nvPr>
        </p:nvSpPr>
        <p:spPr/>
        <p:txBody>
          <a:bodyPr>
            <a:normAutofit/>
          </a:bodyPr>
          <a:lstStyle/>
          <a:p>
            <a:r>
              <a:rPr lang="en-ID" dirty="0"/>
              <a:t>Who am I</a:t>
            </a:r>
          </a:p>
          <a:p>
            <a:r>
              <a:rPr lang="en-ID" dirty="0"/>
              <a:t>Why I made this course?</a:t>
            </a:r>
          </a:p>
        </p:txBody>
      </p:sp>
    </p:spTree>
    <p:extLst>
      <p:ext uri="{BB962C8B-B14F-4D97-AF65-F5344CB8AC3E}">
        <p14:creationId xmlns:p14="http://schemas.microsoft.com/office/powerpoint/2010/main" val="18884807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C66DB-72D8-B38A-8CF7-EB84FB1A842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F92B699-150B-53E9-EA33-662D34E00967}"/>
              </a:ext>
            </a:extLst>
          </p:cNvPr>
          <p:cNvSpPr>
            <a:spLocks noGrp="1"/>
          </p:cNvSpPr>
          <p:nvPr>
            <p:ph type="title"/>
          </p:nvPr>
        </p:nvSpPr>
        <p:spPr/>
        <p:txBody>
          <a:bodyPr/>
          <a:lstStyle/>
          <a:p>
            <a:r>
              <a:rPr lang="en-ID" dirty="0"/>
              <a:t>Who Am I?</a:t>
            </a:r>
            <a:endParaRPr lang="en-US" dirty="0"/>
          </a:p>
        </p:txBody>
      </p:sp>
      <p:sp>
        <p:nvSpPr>
          <p:cNvPr id="6" name="Text Placeholder 5">
            <a:extLst>
              <a:ext uri="{FF2B5EF4-FFF2-40B4-BE49-F238E27FC236}">
                <a16:creationId xmlns:a16="http://schemas.microsoft.com/office/drawing/2014/main" id="{3391A590-4DC8-BDA8-85BC-A440548F75D1}"/>
              </a:ext>
            </a:extLst>
          </p:cNvPr>
          <p:cNvSpPr>
            <a:spLocks noGrp="1"/>
          </p:cNvSpPr>
          <p:nvPr>
            <p:ph type="body" idx="1"/>
          </p:nvPr>
        </p:nvSpPr>
        <p:spPr/>
        <p:txBody>
          <a:bodyPr/>
          <a:lstStyle/>
          <a:p>
            <a:r>
              <a:rPr lang="en-ID" dirty="0"/>
              <a:t>My Profile</a:t>
            </a:r>
          </a:p>
        </p:txBody>
      </p:sp>
    </p:spTree>
    <p:extLst>
      <p:ext uri="{BB962C8B-B14F-4D97-AF65-F5344CB8AC3E}">
        <p14:creationId xmlns:p14="http://schemas.microsoft.com/office/powerpoint/2010/main" val="35709644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12936-F3B0-E3A0-23DF-CAE4BF4097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4C93FB-CAD6-513F-BB4F-3FF9F82E5FA9}"/>
              </a:ext>
            </a:extLst>
          </p:cNvPr>
          <p:cNvSpPr>
            <a:spLocks noGrp="1"/>
          </p:cNvSpPr>
          <p:nvPr>
            <p:ph type="title"/>
          </p:nvPr>
        </p:nvSpPr>
        <p:spPr/>
        <p:txBody>
          <a:bodyPr/>
          <a:lstStyle/>
          <a:p>
            <a:r>
              <a:rPr lang="en-ID" dirty="0"/>
              <a:t>My Profile</a:t>
            </a:r>
            <a:endParaRPr lang="en-US" dirty="0"/>
          </a:p>
        </p:txBody>
      </p:sp>
      <p:sp>
        <p:nvSpPr>
          <p:cNvPr id="7" name="Content Placeholder 6">
            <a:extLst>
              <a:ext uri="{FF2B5EF4-FFF2-40B4-BE49-F238E27FC236}">
                <a16:creationId xmlns:a16="http://schemas.microsoft.com/office/drawing/2014/main" id="{34863A43-9FA7-F074-F493-5B8F95392127}"/>
              </a:ext>
            </a:extLst>
          </p:cNvPr>
          <p:cNvSpPr>
            <a:spLocks noGrp="1"/>
          </p:cNvSpPr>
          <p:nvPr>
            <p:ph sz="half" idx="1"/>
          </p:nvPr>
        </p:nvSpPr>
        <p:spPr/>
        <p:txBody>
          <a:bodyPr>
            <a:normAutofit/>
          </a:bodyPr>
          <a:lstStyle/>
          <a:p>
            <a:r>
              <a:rPr lang="en-US" dirty="0"/>
              <a:t>Name: Khenjy Johnelson</a:t>
            </a:r>
          </a:p>
          <a:p>
            <a:r>
              <a:rPr lang="en-US" dirty="0"/>
              <a:t>Born: </a:t>
            </a:r>
            <a:r>
              <a:rPr lang="en-US" dirty="0" err="1"/>
              <a:t>Batam</a:t>
            </a:r>
            <a:r>
              <a:rPr lang="en-US" dirty="0"/>
              <a:t>, 18 July 2004</a:t>
            </a:r>
          </a:p>
          <a:p>
            <a:r>
              <a:rPr lang="en-US" dirty="0"/>
              <a:t>School: SMK Putra </a:t>
            </a:r>
            <a:r>
              <a:rPr lang="en-US" dirty="0" err="1"/>
              <a:t>Batam</a:t>
            </a:r>
            <a:endParaRPr lang="en-US" dirty="0"/>
          </a:p>
          <a:p>
            <a:r>
              <a:rPr lang="en-US" dirty="0"/>
              <a:t>Univ: Universitas Universal</a:t>
            </a:r>
          </a:p>
          <a:p>
            <a:r>
              <a:rPr lang="en-US" dirty="0"/>
              <a:t>Hobby: Reading Wikipedia, find new words or terms</a:t>
            </a:r>
          </a:p>
        </p:txBody>
      </p:sp>
      <p:pic>
        <p:nvPicPr>
          <p:cNvPr id="9" name="Content Placeholder 8" descr="A child sitting at a desk with a computer&#10;&#10;Description automatically generated">
            <a:extLst>
              <a:ext uri="{FF2B5EF4-FFF2-40B4-BE49-F238E27FC236}">
                <a16:creationId xmlns:a16="http://schemas.microsoft.com/office/drawing/2014/main" id="{5BFEFF3E-FEA8-4F05-9350-49036FDE0A77}"/>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912769" y="2603500"/>
            <a:ext cx="3416300" cy="3416300"/>
          </a:xfrm>
        </p:spPr>
      </p:pic>
    </p:spTree>
    <p:extLst>
      <p:ext uri="{BB962C8B-B14F-4D97-AF65-F5344CB8AC3E}">
        <p14:creationId xmlns:p14="http://schemas.microsoft.com/office/powerpoint/2010/main" val="37530466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BF081-B494-4160-55D8-085B270FCC4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74D1BA5-F451-EA1D-42B5-44955F44B15B}"/>
              </a:ext>
            </a:extLst>
          </p:cNvPr>
          <p:cNvSpPr>
            <a:spLocks noGrp="1"/>
          </p:cNvSpPr>
          <p:nvPr>
            <p:ph type="title"/>
          </p:nvPr>
        </p:nvSpPr>
        <p:spPr/>
        <p:txBody>
          <a:bodyPr/>
          <a:lstStyle/>
          <a:p>
            <a:r>
              <a:rPr lang="en-ID" dirty="0"/>
              <a:t>Why I made this course</a:t>
            </a:r>
            <a:endParaRPr lang="en-US" dirty="0"/>
          </a:p>
        </p:txBody>
      </p:sp>
      <p:sp>
        <p:nvSpPr>
          <p:cNvPr id="6" name="Text Placeholder 5">
            <a:extLst>
              <a:ext uri="{FF2B5EF4-FFF2-40B4-BE49-F238E27FC236}">
                <a16:creationId xmlns:a16="http://schemas.microsoft.com/office/drawing/2014/main" id="{F7A84421-DB1D-4364-CF95-D73C62E37001}"/>
              </a:ext>
            </a:extLst>
          </p:cNvPr>
          <p:cNvSpPr>
            <a:spLocks noGrp="1"/>
          </p:cNvSpPr>
          <p:nvPr>
            <p:ph type="body" idx="1"/>
          </p:nvPr>
        </p:nvSpPr>
        <p:spPr/>
        <p:txBody>
          <a:bodyPr/>
          <a:lstStyle/>
          <a:p>
            <a:r>
              <a:rPr lang="en-ID" dirty="0"/>
              <a:t>Cargo cult programming</a:t>
            </a:r>
          </a:p>
          <a:p>
            <a:r>
              <a:rPr lang="en-ID" dirty="0"/>
              <a:t>Why we should avoid it</a:t>
            </a:r>
          </a:p>
        </p:txBody>
      </p:sp>
    </p:spTree>
    <p:extLst>
      <p:ext uri="{BB962C8B-B14F-4D97-AF65-F5344CB8AC3E}">
        <p14:creationId xmlns:p14="http://schemas.microsoft.com/office/powerpoint/2010/main" val="7577731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84A3F-D295-34B7-EC64-E7548DEDDC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097FA0-500F-E81A-98EF-ADD1D9609723}"/>
              </a:ext>
            </a:extLst>
          </p:cNvPr>
          <p:cNvSpPr>
            <a:spLocks noGrp="1"/>
          </p:cNvSpPr>
          <p:nvPr>
            <p:ph type="title"/>
          </p:nvPr>
        </p:nvSpPr>
        <p:spPr/>
        <p:txBody>
          <a:bodyPr/>
          <a:lstStyle/>
          <a:p>
            <a:r>
              <a:rPr lang="en-ID" dirty="0"/>
              <a:t>Cargo cult programming</a:t>
            </a:r>
            <a:endParaRPr lang="en-US" dirty="0"/>
          </a:p>
        </p:txBody>
      </p:sp>
      <p:sp>
        <p:nvSpPr>
          <p:cNvPr id="7" name="Content Placeholder 6">
            <a:extLst>
              <a:ext uri="{FF2B5EF4-FFF2-40B4-BE49-F238E27FC236}">
                <a16:creationId xmlns:a16="http://schemas.microsoft.com/office/drawing/2014/main" id="{7B1D864C-713E-CE1C-15B2-B5DEFD9CDADE}"/>
              </a:ext>
            </a:extLst>
          </p:cNvPr>
          <p:cNvSpPr>
            <a:spLocks noGrp="1"/>
          </p:cNvSpPr>
          <p:nvPr>
            <p:ph sz="half" idx="1"/>
          </p:nvPr>
        </p:nvSpPr>
        <p:spPr/>
        <p:txBody>
          <a:bodyPr>
            <a:normAutofit/>
          </a:bodyPr>
          <a:lstStyle/>
          <a:p>
            <a:r>
              <a:rPr lang="en-US" dirty="0"/>
              <a:t>Cargo cult programming is a style where programmers include unnecessary code or patterns without fully understanding their purpose, often just mimicking other code they’ve seen without knowing why it’s there. This approach can lead to ineffective, cluttered code and is often a sign of misunderstanding either a problem or its solution.</a:t>
            </a:r>
          </a:p>
        </p:txBody>
      </p:sp>
      <p:pic>
        <p:nvPicPr>
          <p:cNvPr id="8196" name="Picture 4" descr="10 Weird Facts About Melanesian Cargo Cults">
            <a:extLst>
              <a:ext uri="{FF2B5EF4-FFF2-40B4-BE49-F238E27FC236}">
                <a16:creationId xmlns:a16="http://schemas.microsoft.com/office/drawing/2014/main" id="{A8F33752-8F31-9803-AE10-7EA1D3D756AA}"/>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208713" y="2864326"/>
            <a:ext cx="4824412" cy="2894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73051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C68F1-36D8-50C1-A8F7-C2682DC33F25}"/>
              </a:ext>
            </a:extLst>
          </p:cNvPr>
          <p:cNvSpPr>
            <a:spLocks noGrp="1"/>
          </p:cNvSpPr>
          <p:nvPr>
            <p:ph type="title"/>
          </p:nvPr>
        </p:nvSpPr>
        <p:spPr/>
        <p:txBody>
          <a:bodyPr/>
          <a:lstStyle/>
          <a:p>
            <a:r>
              <a:rPr lang="en-ID" dirty="0"/>
              <a:t>Cargo cult Programming</a:t>
            </a:r>
            <a:endParaRPr lang="en-US" dirty="0"/>
          </a:p>
        </p:txBody>
      </p:sp>
      <p:sp>
        <p:nvSpPr>
          <p:cNvPr id="3" name="Content Placeholder 2">
            <a:extLst>
              <a:ext uri="{FF2B5EF4-FFF2-40B4-BE49-F238E27FC236}">
                <a16:creationId xmlns:a16="http://schemas.microsoft.com/office/drawing/2014/main" id="{D315BA14-FE6B-DB8F-CABE-E042AD00A117}"/>
              </a:ext>
            </a:extLst>
          </p:cNvPr>
          <p:cNvSpPr>
            <a:spLocks noGrp="1"/>
          </p:cNvSpPr>
          <p:nvPr>
            <p:ph sz="half" idx="1"/>
          </p:nvPr>
        </p:nvSpPr>
        <p:spPr/>
        <p:txBody>
          <a:bodyPr/>
          <a:lstStyle/>
          <a:p>
            <a:r>
              <a:rPr lang="en-US" dirty="0"/>
              <a:t>Avoiding cargo cult programming is crucial for writing clear, efficient code. Instead of copying code or design patterns blindly, developers should strive to understand the underlying concepts and apply them thoughtfully. This prevents unneeded complexity and ensures that each line of code serves a purpose, contributing to cleaner, more maintainable codebases.</a:t>
            </a:r>
          </a:p>
          <a:p>
            <a:pPr marL="0" indent="0">
              <a:buNone/>
            </a:pPr>
            <a:endParaRPr lang="en-US" dirty="0"/>
          </a:p>
        </p:txBody>
      </p:sp>
      <p:pic>
        <p:nvPicPr>
          <p:cNvPr id="9218" name="Picture 2" descr="Let's Talk About Cargo Cult Programming | by Ruxandra-Theodora Mazilu |  Nerd For Tech | Medium">
            <a:extLst>
              <a:ext uri="{FF2B5EF4-FFF2-40B4-BE49-F238E27FC236}">
                <a16:creationId xmlns:a16="http://schemas.microsoft.com/office/drawing/2014/main" id="{2BA9ECC3-8E01-6767-B672-5A37DE37C047}"/>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208713" y="2704087"/>
            <a:ext cx="4824412" cy="3215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24911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8735F-36CB-F97E-1A43-60EDDBD2679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FCBC849-3482-928F-6D7B-54A6FBD8672F}"/>
              </a:ext>
            </a:extLst>
          </p:cNvPr>
          <p:cNvSpPr>
            <a:spLocks noGrp="1"/>
          </p:cNvSpPr>
          <p:nvPr>
            <p:ph type="title"/>
          </p:nvPr>
        </p:nvSpPr>
        <p:spPr/>
        <p:txBody>
          <a:bodyPr/>
          <a:lstStyle/>
          <a:p>
            <a:r>
              <a:rPr lang="en-ID" dirty="0"/>
              <a:t>Introduction</a:t>
            </a:r>
            <a:endParaRPr lang="en-US" dirty="0"/>
          </a:p>
        </p:txBody>
      </p:sp>
      <p:sp>
        <p:nvSpPr>
          <p:cNvPr id="6" name="Text Placeholder 5">
            <a:extLst>
              <a:ext uri="{FF2B5EF4-FFF2-40B4-BE49-F238E27FC236}">
                <a16:creationId xmlns:a16="http://schemas.microsoft.com/office/drawing/2014/main" id="{42317665-D3AC-1611-F6F1-D457F663B305}"/>
              </a:ext>
            </a:extLst>
          </p:cNvPr>
          <p:cNvSpPr>
            <a:spLocks noGrp="1"/>
          </p:cNvSpPr>
          <p:nvPr>
            <p:ph type="body" idx="1"/>
          </p:nvPr>
        </p:nvSpPr>
        <p:spPr/>
        <p:txBody>
          <a:bodyPr>
            <a:normAutofit/>
          </a:bodyPr>
          <a:lstStyle/>
          <a:p>
            <a:r>
              <a:rPr lang="en-ID" dirty="0"/>
              <a:t>How most software development works (at the core of it)</a:t>
            </a:r>
          </a:p>
        </p:txBody>
      </p:sp>
    </p:spTree>
    <p:extLst>
      <p:ext uri="{BB962C8B-B14F-4D97-AF65-F5344CB8AC3E}">
        <p14:creationId xmlns:p14="http://schemas.microsoft.com/office/powerpoint/2010/main" val="30965577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EA33546-261F-E97E-03BC-455E02FE700E}"/>
              </a:ext>
            </a:extLst>
          </p:cNvPr>
          <p:cNvSpPr>
            <a:spLocks noGrp="1"/>
          </p:cNvSpPr>
          <p:nvPr>
            <p:ph type="title"/>
          </p:nvPr>
        </p:nvSpPr>
        <p:spPr/>
        <p:txBody>
          <a:bodyPr/>
          <a:lstStyle/>
          <a:p>
            <a:r>
              <a:rPr lang="en-ID" dirty="0"/>
              <a:t>How most software development works (at the core of it)</a:t>
            </a:r>
            <a:endParaRPr lang="en-US" dirty="0"/>
          </a:p>
        </p:txBody>
      </p:sp>
      <p:sp>
        <p:nvSpPr>
          <p:cNvPr id="6" name="Text Placeholder 5">
            <a:extLst>
              <a:ext uri="{FF2B5EF4-FFF2-40B4-BE49-F238E27FC236}">
                <a16:creationId xmlns:a16="http://schemas.microsoft.com/office/drawing/2014/main" id="{BB347139-694B-F538-F276-E117E0699D04}"/>
              </a:ext>
            </a:extLst>
          </p:cNvPr>
          <p:cNvSpPr>
            <a:spLocks noGrp="1"/>
          </p:cNvSpPr>
          <p:nvPr>
            <p:ph type="body" idx="1"/>
          </p:nvPr>
        </p:nvSpPr>
        <p:spPr/>
        <p:txBody>
          <a:bodyPr/>
          <a:lstStyle/>
          <a:p>
            <a:r>
              <a:rPr lang="en-ID" dirty="0"/>
              <a:t>Local variable</a:t>
            </a:r>
          </a:p>
          <a:p>
            <a:r>
              <a:rPr lang="en-ID" dirty="0"/>
              <a:t>Modular programming</a:t>
            </a:r>
          </a:p>
          <a:p>
            <a:r>
              <a:rPr lang="en-ID" dirty="0"/>
              <a:t>Global Variable</a:t>
            </a:r>
          </a:p>
        </p:txBody>
      </p:sp>
    </p:spTree>
    <p:extLst>
      <p:ext uri="{BB962C8B-B14F-4D97-AF65-F5344CB8AC3E}">
        <p14:creationId xmlns:p14="http://schemas.microsoft.com/office/powerpoint/2010/main" val="32137386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6E25D-7819-2E63-5877-8F4C61E3EEE2}"/>
              </a:ext>
            </a:extLst>
          </p:cNvPr>
          <p:cNvSpPr>
            <a:spLocks noGrp="1"/>
          </p:cNvSpPr>
          <p:nvPr>
            <p:ph type="title"/>
          </p:nvPr>
        </p:nvSpPr>
        <p:spPr/>
        <p:txBody>
          <a:bodyPr/>
          <a:lstStyle/>
          <a:p>
            <a:r>
              <a:rPr lang="en-ID" dirty="0"/>
              <a:t>Local Variables</a:t>
            </a:r>
            <a:endParaRPr lang="en-US" dirty="0"/>
          </a:p>
        </p:txBody>
      </p:sp>
      <p:sp>
        <p:nvSpPr>
          <p:cNvPr id="7" name="Content Placeholder 6">
            <a:extLst>
              <a:ext uri="{FF2B5EF4-FFF2-40B4-BE49-F238E27FC236}">
                <a16:creationId xmlns:a16="http://schemas.microsoft.com/office/drawing/2014/main" id="{8A12CC7A-616A-44E0-DBF8-06E8A0874BCF}"/>
              </a:ext>
            </a:extLst>
          </p:cNvPr>
          <p:cNvSpPr>
            <a:spLocks noGrp="1"/>
          </p:cNvSpPr>
          <p:nvPr>
            <p:ph sz="half" idx="1"/>
          </p:nvPr>
        </p:nvSpPr>
        <p:spPr/>
        <p:txBody>
          <a:bodyPr>
            <a:normAutofit fontScale="92500" lnSpcReduction="10000"/>
          </a:bodyPr>
          <a:lstStyle/>
          <a:p>
            <a:r>
              <a:rPr lang="en-US" dirty="0"/>
              <a:t>In computer science, a </a:t>
            </a:r>
            <a:r>
              <a:rPr lang="en-US" i="1" dirty="0"/>
              <a:t>local variable</a:t>
            </a:r>
            <a:r>
              <a:rPr lang="en-US" dirty="0"/>
              <a:t> is a variable that's only accessible within a specific function or block where it’s defined. When you use a local variable inside a function, it takes priority over variables with the same name that might exist outside of that function, like in the broader program.</a:t>
            </a:r>
          </a:p>
          <a:p>
            <a:endParaRPr lang="en-US" dirty="0"/>
          </a:p>
          <a:p>
            <a:r>
              <a:rPr lang="en-US" dirty="0"/>
              <a:t>Reference:</a:t>
            </a:r>
          </a:p>
          <a:p>
            <a:r>
              <a:rPr lang="en-US" dirty="0"/>
              <a:t>https://en.wikipedia.org/wiki/Local_variable</a:t>
            </a:r>
          </a:p>
        </p:txBody>
      </p:sp>
      <p:pic>
        <p:nvPicPr>
          <p:cNvPr id="1026" name="Picture 2" descr="Variables in Computer Programming | by Nadeeja Perera | Najja's Blog |  Medium">
            <a:extLst>
              <a:ext uri="{FF2B5EF4-FFF2-40B4-BE49-F238E27FC236}">
                <a16:creationId xmlns:a16="http://schemas.microsoft.com/office/drawing/2014/main" id="{3551458F-0271-D2DF-78D4-3008DFD7BE25}"/>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779649" y="3029110"/>
            <a:ext cx="3682540" cy="25650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886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99EA5-7D3B-37EA-F63B-FBA58094D84B}"/>
              </a:ext>
            </a:extLst>
          </p:cNvPr>
          <p:cNvSpPr>
            <a:spLocks noGrp="1"/>
          </p:cNvSpPr>
          <p:nvPr>
            <p:ph type="title"/>
          </p:nvPr>
        </p:nvSpPr>
        <p:spPr/>
        <p:txBody>
          <a:bodyPr/>
          <a:lstStyle/>
          <a:p>
            <a:r>
              <a:rPr lang="en-ID" dirty="0"/>
              <a:t>Modular Programming</a:t>
            </a:r>
            <a:endParaRPr lang="en-US" dirty="0"/>
          </a:p>
        </p:txBody>
      </p:sp>
      <p:sp>
        <p:nvSpPr>
          <p:cNvPr id="3" name="Content Placeholder 2">
            <a:extLst>
              <a:ext uri="{FF2B5EF4-FFF2-40B4-BE49-F238E27FC236}">
                <a16:creationId xmlns:a16="http://schemas.microsoft.com/office/drawing/2014/main" id="{30D5AB11-D215-B995-C91C-CB7EF8497231}"/>
              </a:ext>
            </a:extLst>
          </p:cNvPr>
          <p:cNvSpPr>
            <a:spLocks noGrp="1"/>
          </p:cNvSpPr>
          <p:nvPr>
            <p:ph sz="half" idx="1"/>
          </p:nvPr>
        </p:nvSpPr>
        <p:spPr/>
        <p:txBody>
          <a:bodyPr/>
          <a:lstStyle/>
          <a:p>
            <a:r>
              <a:rPr lang="en-US" i="1" dirty="0"/>
              <a:t>Modular programming</a:t>
            </a:r>
            <a:r>
              <a:rPr lang="en-US" dirty="0"/>
              <a:t> is a software design approach focused on breaking down a program’s functionality into separate, self-contained modules. Each module handles a specific function or "concern" within the overall program, and includes everything it needs to perform that task independently of other parts of the program.</a:t>
            </a:r>
          </a:p>
        </p:txBody>
      </p:sp>
      <p:pic>
        <p:nvPicPr>
          <p:cNvPr id="2050" name="Picture 2" descr="Modular programming: increased value for our customers | Infanion">
            <a:extLst>
              <a:ext uri="{FF2B5EF4-FFF2-40B4-BE49-F238E27FC236}">
                <a16:creationId xmlns:a16="http://schemas.microsoft.com/office/drawing/2014/main" id="{28FB2AEA-F47C-2A5D-59EC-61B1BBDA8EC8}"/>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208713" y="2992977"/>
            <a:ext cx="4824412" cy="26373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97640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11F21-6EEC-D523-8484-C9018B9FD7A5}"/>
              </a:ext>
            </a:extLst>
          </p:cNvPr>
          <p:cNvSpPr>
            <a:spLocks noGrp="1"/>
          </p:cNvSpPr>
          <p:nvPr>
            <p:ph type="title"/>
          </p:nvPr>
        </p:nvSpPr>
        <p:spPr/>
        <p:txBody>
          <a:bodyPr/>
          <a:lstStyle/>
          <a:p>
            <a:r>
              <a:rPr lang="en-ID" dirty="0"/>
              <a:t>Global Variable</a:t>
            </a:r>
            <a:endParaRPr lang="en-US" dirty="0"/>
          </a:p>
        </p:txBody>
      </p:sp>
      <p:sp>
        <p:nvSpPr>
          <p:cNvPr id="3" name="Content Placeholder 2">
            <a:extLst>
              <a:ext uri="{FF2B5EF4-FFF2-40B4-BE49-F238E27FC236}">
                <a16:creationId xmlns:a16="http://schemas.microsoft.com/office/drawing/2014/main" id="{7D12A0DF-B6B4-3B77-4341-3AE9E4DB3DBD}"/>
              </a:ext>
            </a:extLst>
          </p:cNvPr>
          <p:cNvSpPr>
            <a:spLocks noGrp="1"/>
          </p:cNvSpPr>
          <p:nvPr>
            <p:ph sz="half" idx="1"/>
          </p:nvPr>
        </p:nvSpPr>
        <p:spPr/>
        <p:txBody>
          <a:bodyPr/>
          <a:lstStyle/>
          <a:p>
            <a:r>
              <a:rPr lang="en-US" dirty="0"/>
              <a:t>In programming, a </a:t>
            </a:r>
            <a:r>
              <a:rPr lang="en-US" i="1" dirty="0"/>
              <a:t>global variable</a:t>
            </a:r>
            <a:r>
              <a:rPr lang="en-US" dirty="0"/>
              <a:t> is a variable that’s accessible from anywhere in the program, giving it a </a:t>
            </a:r>
            <a:r>
              <a:rPr lang="en-US" i="1" dirty="0"/>
              <a:t>global scope</a:t>
            </a:r>
            <a:r>
              <a:rPr lang="en-US" dirty="0"/>
              <a:t>. This means any part of the program can read or modify it—unless a local variable with the same name “shadows” it by temporarily taking priority in a particular block or function. The collection of all global variables forms what’s known as the </a:t>
            </a:r>
            <a:r>
              <a:rPr lang="en-US" i="1" dirty="0"/>
              <a:t>global environment</a:t>
            </a:r>
            <a:r>
              <a:rPr lang="en-US" dirty="0"/>
              <a:t> or </a:t>
            </a:r>
            <a:r>
              <a:rPr lang="en-US" i="1" dirty="0"/>
              <a:t>global state</a:t>
            </a:r>
            <a:r>
              <a:rPr lang="en-US" dirty="0"/>
              <a:t>.</a:t>
            </a:r>
          </a:p>
        </p:txBody>
      </p:sp>
      <p:pic>
        <p:nvPicPr>
          <p:cNvPr id="3074" name="Picture 2" descr="Scope of Variables in C++ - GeeksforGeeks">
            <a:extLst>
              <a:ext uri="{FF2B5EF4-FFF2-40B4-BE49-F238E27FC236}">
                <a16:creationId xmlns:a16="http://schemas.microsoft.com/office/drawing/2014/main" id="{4CBF2F80-4EA0-DD22-5E43-DD8C935E4B34}"/>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678062" y="2911650"/>
            <a:ext cx="3885714" cy="280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62571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40EF7-CDE3-C99A-7B88-3C66941EE9F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05EAA6B-E934-7B3A-E993-D95DBD006CF3}"/>
              </a:ext>
            </a:extLst>
          </p:cNvPr>
          <p:cNvSpPr>
            <a:spLocks noGrp="1"/>
          </p:cNvSpPr>
          <p:nvPr>
            <p:ph type="title"/>
          </p:nvPr>
        </p:nvSpPr>
        <p:spPr/>
        <p:txBody>
          <a:bodyPr/>
          <a:lstStyle/>
          <a:p>
            <a:r>
              <a:rPr lang="en-ID" dirty="0"/>
              <a:t>The thing about Global Variable</a:t>
            </a:r>
            <a:endParaRPr lang="en-US" dirty="0"/>
          </a:p>
        </p:txBody>
      </p:sp>
      <p:sp>
        <p:nvSpPr>
          <p:cNvPr id="6" name="Text Placeholder 5">
            <a:extLst>
              <a:ext uri="{FF2B5EF4-FFF2-40B4-BE49-F238E27FC236}">
                <a16:creationId xmlns:a16="http://schemas.microsoft.com/office/drawing/2014/main" id="{D11386E6-E56B-F209-E412-EEEEDCC778C5}"/>
              </a:ext>
            </a:extLst>
          </p:cNvPr>
          <p:cNvSpPr>
            <a:spLocks noGrp="1"/>
          </p:cNvSpPr>
          <p:nvPr>
            <p:ph type="body" idx="1"/>
          </p:nvPr>
        </p:nvSpPr>
        <p:spPr/>
        <p:txBody>
          <a:bodyPr>
            <a:normAutofit/>
          </a:bodyPr>
          <a:lstStyle/>
          <a:p>
            <a:r>
              <a:rPr lang="en-ID" dirty="0"/>
              <a:t>5W + 1H</a:t>
            </a:r>
          </a:p>
          <a:p>
            <a:r>
              <a:rPr lang="en-ID" dirty="0"/>
              <a:t>Variable comparisons</a:t>
            </a:r>
          </a:p>
        </p:txBody>
      </p:sp>
    </p:spTree>
    <p:extLst>
      <p:ext uri="{BB962C8B-B14F-4D97-AF65-F5344CB8AC3E}">
        <p14:creationId xmlns:p14="http://schemas.microsoft.com/office/powerpoint/2010/main" val="37501396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73494-0559-8A97-33F0-73DA57DE814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A554898-71F9-C7A3-4C6B-0318D7D3C616}"/>
              </a:ext>
            </a:extLst>
          </p:cNvPr>
          <p:cNvSpPr>
            <a:spLocks noGrp="1"/>
          </p:cNvSpPr>
          <p:nvPr>
            <p:ph type="title"/>
          </p:nvPr>
        </p:nvSpPr>
        <p:spPr/>
        <p:txBody>
          <a:bodyPr/>
          <a:lstStyle/>
          <a:p>
            <a:r>
              <a:rPr lang="en-ID" dirty="0"/>
              <a:t>5W + 1H</a:t>
            </a:r>
            <a:endParaRPr lang="en-US" dirty="0"/>
          </a:p>
        </p:txBody>
      </p:sp>
      <p:sp>
        <p:nvSpPr>
          <p:cNvPr id="6" name="Text Placeholder 5">
            <a:extLst>
              <a:ext uri="{FF2B5EF4-FFF2-40B4-BE49-F238E27FC236}">
                <a16:creationId xmlns:a16="http://schemas.microsoft.com/office/drawing/2014/main" id="{6FB84B2B-B669-F33A-FDA4-55547B1E319E}"/>
              </a:ext>
            </a:extLst>
          </p:cNvPr>
          <p:cNvSpPr>
            <a:spLocks noGrp="1"/>
          </p:cNvSpPr>
          <p:nvPr>
            <p:ph type="body" idx="1"/>
          </p:nvPr>
        </p:nvSpPr>
        <p:spPr/>
        <p:txBody>
          <a:bodyPr>
            <a:normAutofit/>
          </a:bodyPr>
          <a:lstStyle/>
          <a:p>
            <a:r>
              <a:rPr lang="en-ID" dirty="0"/>
              <a:t>What is global variable</a:t>
            </a:r>
          </a:p>
          <a:p>
            <a:r>
              <a:rPr lang="en-ID" dirty="0"/>
              <a:t>Who use it</a:t>
            </a:r>
          </a:p>
          <a:p>
            <a:r>
              <a:rPr lang="en-US" dirty="0"/>
              <a:t>Where is it placed</a:t>
            </a:r>
            <a:endParaRPr lang="en-ID" dirty="0"/>
          </a:p>
          <a:p>
            <a:r>
              <a:rPr lang="en-US" dirty="0"/>
              <a:t>When to use it</a:t>
            </a:r>
          </a:p>
          <a:p>
            <a:r>
              <a:rPr lang="en-US" dirty="0"/>
              <a:t>Why even bother</a:t>
            </a:r>
          </a:p>
        </p:txBody>
      </p:sp>
    </p:spTree>
    <p:extLst>
      <p:ext uri="{BB962C8B-B14F-4D97-AF65-F5344CB8AC3E}">
        <p14:creationId xmlns:p14="http://schemas.microsoft.com/office/powerpoint/2010/main" val="18066962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B59C33-1427-F0F9-1073-68C228FD2963}"/>
              </a:ext>
            </a:extLst>
          </p:cNvPr>
          <p:cNvSpPr>
            <a:spLocks noGrp="1"/>
          </p:cNvSpPr>
          <p:nvPr>
            <p:ph type="title"/>
          </p:nvPr>
        </p:nvSpPr>
        <p:spPr/>
        <p:txBody>
          <a:bodyPr/>
          <a:lstStyle/>
          <a:p>
            <a:r>
              <a:rPr lang="en-ID" dirty="0"/>
              <a:t>What is global variable</a:t>
            </a:r>
            <a:endParaRPr lang="en-US" dirty="0"/>
          </a:p>
        </p:txBody>
      </p:sp>
      <p:sp>
        <p:nvSpPr>
          <p:cNvPr id="10" name="Content Placeholder 9">
            <a:extLst>
              <a:ext uri="{FF2B5EF4-FFF2-40B4-BE49-F238E27FC236}">
                <a16:creationId xmlns:a16="http://schemas.microsoft.com/office/drawing/2014/main" id="{385FB046-5DDD-C9EC-D1CE-0A04F5D6F94A}"/>
              </a:ext>
            </a:extLst>
          </p:cNvPr>
          <p:cNvSpPr>
            <a:spLocks noGrp="1"/>
          </p:cNvSpPr>
          <p:nvPr>
            <p:ph sz="half" idx="1"/>
          </p:nvPr>
        </p:nvSpPr>
        <p:spPr/>
        <p:txBody>
          <a:bodyPr/>
          <a:lstStyle/>
          <a:p>
            <a:r>
              <a:rPr lang="en-US" dirty="0"/>
              <a:t>A </a:t>
            </a:r>
            <a:r>
              <a:rPr lang="en-US" i="1" dirty="0"/>
              <a:t>global variable</a:t>
            </a:r>
            <a:r>
              <a:rPr lang="en-US" dirty="0"/>
              <a:t> is a variable that is accessible throughout the entire program, from any function or block, unless it’s specifically overridden in a local scope.</a:t>
            </a:r>
          </a:p>
        </p:txBody>
      </p:sp>
      <p:pic>
        <p:nvPicPr>
          <p:cNvPr id="12" name="Picture 2" descr="Scope of Variables in C++ - GeeksforGeeks">
            <a:extLst>
              <a:ext uri="{FF2B5EF4-FFF2-40B4-BE49-F238E27FC236}">
                <a16:creationId xmlns:a16="http://schemas.microsoft.com/office/drawing/2014/main" id="{A028755E-FEE6-9AEE-3A8C-ADCE83D4DFDA}"/>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678062" y="2911650"/>
            <a:ext cx="3885714" cy="280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16428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04269-E1C0-D498-ED9D-C78A9DC55323}"/>
              </a:ext>
            </a:extLst>
          </p:cNvPr>
          <p:cNvSpPr>
            <a:spLocks noGrp="1"/>
          </p:cNvSpPr>
          <p:nvPr>
            <p:ph type="title"/>
          </p:nvPr>
        </p:nvSpPr>
        <p:spPr/>
        <p:txBody>
          <a:bodyPr/>
          <a:lstStyle/>
          <a:p>
            <a:r>
              <a:rPr lang="en-ID" dirty="0"/>
              <a:t>Who use it</a:t>
            </a:r>
            <a:endParaRPr lang="en-US" dirty="0"/>
          </a:p>
        </p:txBody>
      </p:sp>
      <p:sp>
        <p:nvSpPr>
          <p:cNvPr id="3" name="Content Placeholder 2">
            <a:extLst>
              <a:ext uri="{FF2B5EF4-FFF2-40B4-BE49-F238E27FC236}">
                <a16:creationId xmlns:a16="http://schemas.microsoft.com/office/drawing/2014/main" id="{D3A952F5-F40C-8830-60A3-0A9BDF71CF3A}"/>
              </a:ext>
            </a:extLst>
          </p:cNvPr>
          <p:cNvSpPr>
            <a:spLocks noGrp="1"/>
          </p:cNvSpPr>
          <p:nvPr>
            <p:ph sz="half" idx="1"/>
          </p:nvPr>
        </p:nvSpPr>
        <p:spPr/>
        <p:txBody>
          <a:bodyPr/>
          <a:lstStyle/>
          <a:p>
            <a:r>
              <a:rPr lang="en-US" dirty="0"/>
              <a:t>Programmers working on applications that need to share data or configurations across multiple functions or modules may use global variables. They are commonly used in both simple scripts and large programs, though often sparingly in larger applications.</a:t>
            </a:r>
          </a:p>
        </p:txBody>
      </p:sp>
      <p:pic>
        <p:nvPicPr>
          <p:cNvPr id="4098" name="Picture 2" descr="Apa Itu Programmer? Tanggung Jawab dan Skill Yang Harus dipunya">
            <a:extLst>
              <a:ext uri="{FF2B5EF4-FFF2-40B4-BE49-F238E27FC236}">
                <a16:creationId xmlns:a16="http://schemas.microsoft.com/office/drawing/2014/main" id="{96A06335-EE41-0742-500D-75D9AED2389C}"/>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208713" y="2703664"/>
            <a:ext cx="4824412" cy="32159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40120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F0AD3-DC4C-52C2-FB3D-2479250AF769}"/>
              </a:ext>
            </a:extLst>
          </p:cNvPr>
          <p:cNvSpPr>
            <a:spLocks noGrp="1"/>
          </p:cNvSpPr>
          <p:nvPr>
            <p:ph type="title"/>
          </p:nvPr>
        </p:nvSpPr>
        <p:spPr/>
        <p:txBody>
          <a:bodyPr/>
          <a:lstStyle/>
          <a:p>
            <a:r>
              <a:rPr lang="en-ID" dirty="0"/>
              <a:t>When to use it</a:t>
            </a:r>
            <a:endParaRPr lang="en-US" dirty="0"/>
          </a:p>
        </p:txBody>
      </p:sp>
      <p:sp>
        <p:nvSpPr>
          <p:cNvPr id="3" name="Content Placeholder 2">
            <a:extLst>
              <a:ext uri="{FF2B5EF4-FFF2-40B4-BE49-F238E27FC236}">
                <a16:creationId xmlns:a16="http://schemas.microsoft.com/office/drawing/2014/main" id="{F38ADCE5-E7D6-4F90-00FB-83131BC7D1CC}"/>
              </a:ext>
            </a:extLst>
          </p:cNvPr>
          <p:cNvSpPr>
            <a:spLocks noGrp="1"/>
          </p:cNvSpPr>
          <p:nvPr>
            <p:ph sz="half" idx="1"/>
          </p:nvPr>
        </p:nvSpPr>
        <p:spPr/>
        <p:txBody>
          <a:bodyPr/>
          <a:lstStyle/>
          <a:p>
            <a:r>
              <a:rPr lang="en-US" dirty="0"/>
              <a:t>Global variables are used when data needs to be universally accessible, such as configuration settings, constants, or data shared across multiple parts of the program. They’re especially useful in small programs but can become problematic in larger, more complex applications.</a:t>
            </a:r>
          </a:p>
        </p:txBody>
      </p:sp>
      <p:pic>
        <p:nvPicPr>
          <p:cNvPr id="10242" name="Picture 2" descr="Environment Variables in React Native: The Right Way!">
            <a:extLst>
              <a:ext uri="{FF2B5EF4-FFF2-40B4-BE49-F238E27FC236}">
                <a16:creationId xmlns:a16="http://schemas.microsoft.com/office/drawing/2014/main" id="{EAEDEE59-D6F6-537E-9EC2-C93683CD8618}"/>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208713" y="2952609"/>
            <a:ext cx="4824412" cy="27180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71734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EC60F-9457-52E4-55B4-19B80BB31C7D}"/>
              </a:ext>
            </a:extLst>
          </p:cNvPr>
          <p:cNvSpPr>
            <a:spLocks noGrp="1"/>
          </p:cNvSpPr>
          <p:nvPr>
            <p:ph type="title"/>
          </p:nvPr>
        </p:nvSpPr>
        <p:spPr/>
        <p:txBody>
          <a:bodyPr/>
          <a:lstStyle/>
          <a:p>
            <a:r>
              <a:rPr lang="en-ID" dirty="0"/>
              <a:t>Where is it placed</a:t>
            </a:r>
            <a:endParaRPr lang="en-US" dirty="0"/>
          </a:p>
        </p:txBody>
      </p:sp>
      <p:sp>
        <p:nvSpPr>
          <p:cNvPr id="3" name="Content Placeholder 2">
            <a:extLst>
              <a:ext uri="{FF2B5EF4-FFF2-40B4-BE49-F238E27FC236}">
                <a16:creationId xmlns:a16="http://schemas.microsoft.com/office/drawing/2014/main" id="{877DF0C6-BF0F-8FDE-FD64-1D967173BDAC}"/>
              </a:ext>
            </a:extLst>
          </p:cNvPr>
          <p:cNvSpPr>
            <a:spLocks noGrp="1"/>
          </p:cNvSpPr>
          <p:nvPr>
            <p:ph sz="half" idx="1"/>
          </p:nvPr>
        </p:nvSpPr>
        <p:spPr/>
        <p:txBody>
          <a:bodyPr/>
          <a:lstStyle/>
          <a:p>
            <a:r>
              <a:rPr lang="en-US" dirty="0"/>
              <a:t>Global variables are typically declared at the top level of a program or module, outside of any function or class. In some languages, they’re defined within a dedicated configuration file or global settings section.</a:t>
            </a:r>
          </a:p>
        </p:txBody>
      </p:sp>
      <p:pic>
        <p:nvPicPr>
          <p:cNvPr id="5" name="Picture 2" descr="Scope of Variables in C++ - GeeksforGeeks">
            <a:extLst>
              <a:ext uri="{FF2B5EF4-FFF2-40B4-BE49-F238E27FC236}">
                <a16:creationId xmlns:a16="http://schemas.microsoft.com/office/drawing/2014/main" id="{C83A5169-995D-C326-156B-F5E04C397BBF}"/>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678062" y="2911650"/>
            <a:ext cx="3885714" cy="280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19387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7540D-1AC7-0F81-0C07-C36E2BBF8578}"/>
              </a:ext>
            </a:extLst>
          </p:cNvPr>
          <p:cNvSpPr>
            <a:spLocks noGrp="1"/>
          </p:cNvSpPr>
          <p:nvPr>
            <p:ph type="title"/>
          </p:nvPr>
        </p:nvSpPr>
        <p:spPr/>
        <p:txBody>
          <a:bodyPr/>
          <a:lstStyle/>
          <a:p>
            <a:r>
              <a:rPr lang="en-ID" dirty="0"/>
              <a:t>Why even bother</a:t>
            </a:r>
            <a:endParaRPr lang="en-US" dirty="0"/>
          </a:p>
        </p:txBody>
      </p:sp>
      <p:sp>
        <p:nvSpPr>
          <p:cNvPr id="3" name="Content Placeholder 2">
            <a:extLst>
              <a:ext uri="{FF2B5EF4-FFF2-40B4-BE49-F238E27FC236}">
                <a16:creationId xmlns:a16="http://schemas.microsoft.com/office/drawing/2014/main" id="{32EC5200-D4C9-951E-CADB-1A0295C8B743}"/>
              </a:ext>
            </a:extLst>
          </p:cNvPr>
          <p:cNvSpPr>
            <a:spLocks noGrp="1"/>
          </p:cNvSpPr>
          <p:nvPr>
            <p:ph sz="half" idx="1"/>
          </p:nvPr>
        </p:nvSpPr>
        <p:spPr/>
        <p:txBody>
          <a:bodyPr/>
          <a:lstStyle/>
          <a:p>
            <a:r>
              <a:rPr lang="en-US" dirty="0"/>
              <a:t>Global variables simplify access to data that needs to be widely available, making the code less repetitive and reducing the need for passing variables between functions. However, they can also introduce risks, like unintended modifications and dependencies, which can make debugging and testing more challenging.</a:t>
            </a:r>
          </a:p>
        </p:txBody>
      </p:sp>
      <p:pic>
        <p:nvPicPr>
          <p:cNvPr id="7170" name="Picture 2" descr="How to Return a Global and Local Variable from a Python Function? – Be on  the Right Side of Change">
            <a:extLst>
              <a:ext uri="{FF2B5EF4-FFF2-40B4-BE49-F238E27FC236}">
                <a16:creationId xmlns:a16="http://schemas.microsoft.com/office/drawing/2014/main" id="{F2671858-16E3-086E-788F-0D94535DE92A}"/>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208713" y="2954784"/>
            <a:ext cx="4824412" cy="27137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19117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EA33546-261F-E97E-03BC-455E02FE700E}"/>
              </a:ext>
            </a:extLst>
          </p:cNvPr>
          <p:cNvSpPr>
            <a:spLocks noGrp="1"/>
          </p:cNvSpPr>
          <p:nvPr>
            <p:ph type="title"/>
          </p:nvPr>
        </p:nvSpPr>
        <p:spPr/>
        <p:txBody>
          <a:bodyPr/>
          <a:lstStyle/>
          <a:p>
            <a:r>
              <a:rPr lang="en-ID" dirty="0"/>
              <a:t>In comparisons to other types of variables</a:t>
            </a:r>
            <a:endParaRPr lang="en-US" dirty="0"/>
          </a:p>
        </p:txBody>
      </p:sp>
      <p:sp>
        <p:nvSpPr>
          <p:cNvPr id="6" name="Text Placeholder 5">
            <a:extLst>
              <a:ext uri="{FF2B5EF4-FFF2-40B4-BE49-F238E27FC236}">
                <a16:creationId xmlns:a16="http://schemas.microsoft.com/office/drawing/2014/main" id="{BB347139-694B-F538-F276-E117E0699D04}"/>
              </a:ext>
            </a:extLst>
          </p:cNvPr>
          <p:cNvSpPr>
            <a:spLocks noGrp="1"/>
          </p:cNvSpPr>
          <p:nvPr>
            <p:ph type="body" idx="1"/>
          </p:nvPr>
        </p:nvSpPr>
        <p:spPr/>
        <p:txBody>
          <a:bodyPr/>
          <a:lstStyle/>
          <a:p>
            <a:r>
              <a:rPr lang="en-ID" dirty="0"/>
              <a:t>Local variable vs global variable</a:t>
            </a:r>
          </a:p>
          <a:p>
            <a:r>
              <a:rPr lang="en-ID" dirty="0"/>
              <a:t>Environment variable</a:t>
            </a:r>
          </a:p>
          <a:p>
            <a:r>
              <a:rPr lang="en-ID" dirty="0"/>
              <a:t>Postman environment</a:t>
            </a:r>
          </a:p>
        </p:txBody>
      </p:sp>
    </p:spTree>
    <p:extLst>
      <p:ext uri="{BB962C8B-B14F-4D97-AF65-F5344CB8AC3E}">
        <p14:creationId xmlns:p14="http://schemas.microsoft.com/office/powerpoint/2010/main" val="15027537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18991-74E7-DC6C-494F-BB58B6950B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6D9A88-6EE4-8D1A-5AB1-92988CDF061A}"/>
              </a:ext>
            </a:extLst>
          </p:cNvPr>
          <p:cNvSpPr>
            <a:spLocks noGrp="1"/>
          </p:cNvSpPr>
          <p:nvPr>
            <p:ph type="title"/>
          </p:nvPr>
        </p:nvSpPr>
        <p:spPr/>
        <p:txBody>
          <a:bodyPr/>
          <a:lstStyle/>
          <a:p>
            <a:r>
              <a:rPr lang="en-ID" dirty="0"/>
              <a:t>Local Variable vs Global Variable</a:t>
            </a:r>
            <a:endParaRPr lang="en-US" dirty="0"/>
          </a:p>
        </p:txBody>
      </p:sp>
      <p:sp>
        <p:nvSpPr>
          <p:cNvPr id="3" name="Content Placeholder 2">
            <a:extLst>
              <a:ext uri="{FF2B5EF4-FFF2-40B4-BE49-F238E27FC236}">
                <a16:creationId xmlns:a16="http://schemas.microsoft.com/office/drawing/2014/main" id="{F6E2A5CE-2C06-5DA7-2996-7B22087A482E}"/>
              </a:ext>
            </a:extLst>
          </p:cNvPr>
          <p:cNvSpPr>
            <a:spLocks noGrp="1"/>
          </p:cNvSpPr>
          <p:nvPr>
            <p:ph sz="half" idx="1"/>
          </p:nvPr>
        </p:nvSpPr>
        <p:spPr/>
        <p:txBody>
          <a:bodyPr/>
          <a:lstStyle/>
          <a:p>
            <a:r>
              <a:rPr lang="en-US" b="1" dirty="0"/>
              <a:t>Local Variable</a:t>
            </a:r>
            <a:r>
              <a:rPr lang="en-US" dirty="0"/>
              <a:t>: A local variable is defined within a function or block and is only accessible there. It exists temporarily while the function or block is running and is deleted afterward. Local variables help keep data isolated, reducing the chance of unintended changes elsewhere in the program.</a:t>
            </a:r>
          </a:p>
        </p:txBody>
      </p:sp>
      <p:sp>
        <p:nvSpPr>
          <p:cNvPr id="4" name="Content Placeholder 3">
            <a:extLst>
              <a:ext uri="{FF2B5EF4-FFF2-40B4-BE49-F238E27FC236}">
                <a16:creationId xmlns:a16="http://schemas.microsoft.com/office/drawing/2014/main" id="{438A1976-A4CA-5CDD-AF15-2383B33A9260}"/>
              </a:ext>
            </a:extLst>
          </p:cNvPr>
          <p:cNvSpPr>
            <a:spLocks noGrp="1"/>
          </p:cNvSpPr>
          <p:nvPr>
            <p:ph sz="half" idx="2"/>
          </p:nvPr>
        </p:nvSpPr>
        <p:spPr/>
        <p:txBody>
          <a:bodyPr/>
          <a:lstStyle/>
          <a:p>
            <a:r>
              <a:rPr lang="en-US" b="1" dirty="0"/>
              <a:t>Global Variable</a:t>
            </a:r>
            <a:r>
              <a:rPr lang="en-US" dirty="0"/>
              <a:t>: A global variable is defined outside any function or block, making it accessible throughout the entire program. It exists for the program’s entire runtime and retains its value across function calls. Global variables are often used for data that needs to be shared across multiple parts of the program, like configuration settings.</a:t>
            </a:r>
          </a:p>
        </p:txBody>
      </p:sp>
    </p:spTree>
    <p:extLst>
      <p:ext uri="{BB962C8B-B14F-4D97-AF65-F5344CB8AC3E}">
        <p14:creationId xmlns:p14="http://schemas.microsoft.com/office/powerpoint/2010/main" val="17884003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8341F-FF34-DB30-E2B3-C58CCB4F70A3}"/>
              </a:ext>
            </a:extLst>
          </p:cNvPr>
          <p:cNvSpPr>
            <a:spLocks noGrp="1"/>
          </p:cNvSpPr>
          <p:nvPr>
            <p:ph type="title"/>
          </p:nvPr>
        </p:nvSpPr>
        <p:spPr/>
        <p:txBody>
          <a:bodyPr/>
          <a:lstStyle/>
          <a:p>
            <a:r>
              <a:rPr lang="en-ID" dirty="0"/>
              <a:t>Environment Variable</a:t>
            </a:r>
            <a:endParaRPr lang="en-US" dirty="0"/>
          </a:p>
        </p:txBody>
      </p:sp>
      <p:sp>
        <p:nvSpPr>
          <p:cNvPr id="3" name="Content Placeholder 2">
            <a:extLst>
              <a:ext uri="{FF2B5EF4-FFF2-40B4-BE49-F238E27FC236}">
                <a16:creationId xmlns:a16="http://schemas.microsoft.com/office/drawing/2014/main" id="{2783F0E1-8D1C-1B68-F2F5-0F93B84CA6D8}"/>
              </a:ext>
            </a:extLst>
          </p:cNvPr>
          <p:cNvSpPr>
            <a:spLocks noGrp="1"/>
          </p:cNvSpPr>
          <p:nvPr>
            <p:ph sz="half" idx="1"/>
          </p:nvPr>
        </p:nvSpPr>
        <p:spPr/>
        <p:txBody>
          <a:bodyPr/>
          <a:lstStyle/>
          <a:p>
            <a:r>
              <a:rPr lang="en-US" b="1" dirty="0"/>
              <a:t>Environment Variable</a:t>
            </a:r>
            <a:r>
              <a:rPr lang="en-US" dirty="0"/>
              <a:t>: Environment variables are part of the operating system’s environment and are accessible to any program running on the system. They store information like file paths, system preferences, or API keys, allowing applications to adapt to different environments without hardcoding values. They can be set temporarily for a session or permanently in system configuration files.</a:t>
            </a:r>
          </a:p>
        </p:txBody>
      </p:sp>
      <p:pic>
        <p:nvPicPr>
          <p:cNvPr id="15362" name="Picture 2" descr="Environment Variables in React Native: The Right Way!">
            <a:extLst>
              <a:ext uri="{FF2B5EF4-FFF2-40B4-BE49-F238E27FC236}">
                <a16:creationId xmlns:a16="http://schemas.microsoft.com/office/drawing/2014/main" id="{C49BA968-D0CF-C4E6-BE44-21D477CB9B2F}"/>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208713" y="2952609"/>
            <a:ext cx="4824412" cy="27180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0636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FE274-B8A5-A48E-6969-2A90B2C431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6D303C-3D14-1CE5-710D-97A92969EA88}"/>
              </a:ext>
            </a:extLst>
          </p:cNvPr>
          <p:cNvSpPr>
            <a:spLocks noGrp="1"/>
          </p:cNvSpPr>
          <p:nvPr>
            <p:ph type="title"/>
          </p:nvPr>
        </p:nvSpPr>
        <p:spPr/>
        <p:txBody>
          <a:bodyPr/>
          <a:lstStyle/>
          <a:p>
            <a:r>
              <a:rPr lang="en-ID" dirty="0"/>
              <a:t>Postman Environment</a:t>
            </a:r>
            <a:endParaRPr lang="en-US" dirty="0"/>
          </a:p>
        </p:txBody>
      </p:sp>
      <p:sp>
        <p:nvSpPr>
          <p:cNvPr id="3" name="Content Placeholder 2">
            <a:extLst>
              <a:ext uri="{FF2B5EF4-FFF2-40B4-BE49-F238E27FC236}">
                <a16:creationId xmlns:a16="http://schemas.microsoft.com/office/drawing/2014/main" id="{F420E2DB-3FD1-C63E-E064-66C6D09CCFF4}"/>
              </a:ext>
            </a:extLst>
          </p:cNvPr>
          <p:cNvSpPr>
            <a:spLocks noGrp="1"/>
          </p:cNvSpPr>
          <p:nvPr>
            <p:ph sz="half" idx="1"/>
          </p:nvPr>
        </p:nvSpPr>
        <p:spPr/>
        <p:txBody>
          <a:bodyPr/>
          <a:lstStyle/>
          <a:p>
            <a:r>
              <a:rPr lang="en-US" b="1" dirty="0"/>
              <a:t>Global variables</a:t>
            </a:r>
            <a:r>
              <a:rPr lang="en-US" dirty="0"/>
              <a:t> in Postman are universally available across all requests and environments, while </a:t>
            </a:r>
            <a:r>
              <a:rPr lang="en-US" b="1" dirty="0"/>
              <a:t>environment variables</a:t>
            </a:r>
            <a:r>
              <a:rPr lang="en-US" dirty="0"/>
              <a:t> are scoped to a particular environment and can vary based on the context of your API testing. Both can be used for dynamic variable management, making it easier to test and switch between different environments or configurations.</a:t>
            </a:r>
          </a:p>
        </p:txBody>
      </p:sp>
      <p:pic>
        <p:nvPicPr>
          <p:cNvPr id="16386" name="Picture 2" descr="Postman - Nested Environment Variables - Stack Overflow">
            <a:extLst>
              <a:ext uri="{FF2B5EF4-FFF2-40B4-BE49-F238E27FC236}">
                <a16:creationId xmlns:a16="http://schemas.microsoft.com/office/drawing/2014/main" id="{2E3D0C03-D2AD-3A99-8A9A-909B68BE4864}"/>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208713" y="2611242"/>
            <a:ext cx="4824412" cy="34008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7963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35C23-0FF4-EFD4-E533-9B0FBD99A6C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6560D21-96A0-78C5-1D41-FC3A66B0F63A}"/>
              </a:ext>
            </a:extLst>
          </p:cNvPr>
          <p:cNvSpPr>
            <a:spLocks noGrp="1"/>
          </p:cNvSpPr>
          <p:nvPr>
            <p:ph type="title"/>
          </p:nvPr>
        </p:nvSpPr>
        <p:spPr/>
        <p:txBody>
          <a:bodyPr/>
          <a:lstStyle/>
          <a:p>
            <a:r>
              <a:rPr lang="en-ID" dirty="0"/>
              <a:t>My Story</a:t>
            </a:r>
            <a:endParaRPr lang="en-US" dirty="0"/>
          </a:p>
        </p:txBody>
      </p:sp>
      <p:sp>
        <p:nvSpPr>
          <p:cNvPr id="6" name="Text Placeholder 5">
            <a:extLst>
              <a:ext uri="{FF2B5EF4-FFF2-40B4-BE49-F238E27FC236}">
                <a16:creationId xmlns:a16="http://schemas.microsoft.com/office/drawing/2014/main" id="{94096BDC-C59C-93F9-6176-8BF658A90B91}"/>
              </a:ext>
            </a:extLst>
          </p:cNvPr>
          <p:cNvSpPr>
            <a:spLocks noGrp="1"/>
          </p:cNvSpPr>
          <p:nvPr>
            <p:ph type="body" idx="1"/>
          </p:nvPr>
        </p:nvSpPr>
        <p:spPr/>
        <p:txBody>
          <a:bodyPr>
            <a:normAutofit/>
          </a:bodyPr>
          <a:lstStyle/>
          <a:p>
            <a:r>
              <a:rPr lang="en-ID" dirty="0"/>
              <a:t>How it came to picture</a:t>
            </a:r>
          </a:p>
          <a:p>
            <a:r>
              <a:rPr lang="en-ID" dirty="0"/>
              <a:t>My tech preference and reasons</a:t>
            </a:r>
          </a:p>
        </p:txBody>
      </p:sp>
    </p:spTree>
    <p:extLst>
      <p:ext uri="{BB962C8B-B14F-4D97-AF65-F5344CB8AC3E}">
        <p14:creationId xmlns:p14="http://schemas.microsoft.com/office/powerpoint/2010/main" val="2885524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3A00F-9F28-6533-08AE-5B7731E36C5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0EAEE3E-033E-A785-E02D-CACE40F8B063}"/>
              </a:ext>
            </a:extLst>
          </p:cNvPr>
          <p:cNvSpPr>
            <a:spLocks noGrp="1"/>
          </p:cNvSpPr>
          <p:nvPr>
            <p:ph type="title"/>
          </p:nvPr>
        </p:nvSpPr>
        <p:spPr/>
        <p:txBody>
          <a:bodyPr/>
          <a:lstStyle/>
          <a:p>
            <a:r>
              <a:rPr lang="en-ID" dirty="0"/>
              <a:t>How it came to picture</a:t>
            </a:r>
            <a:endParaRPr lang="en-US" dirty="0"/>
          </a:p>
        </p:txBody>
      </p:sp>
      <p:sp>
        <p:nvSpPr>
          <p:cNvPr id="6" name="Text Placeholder 5">
            <a:extLst>
              <a:ext uri="{FF2B5EF4-FFF2-40B4-BE49-F238E27FC236}">
                <a16:creationId xmlns:a16="http://schemas.microsoft.com/office/drawing/2014/main" id="{19D8C044-FC78-F308-E968-1C263D2CD473}"/>
              </a:ext>
            </a:extLst>
          </p:cNvPr>
          <p:cNvSpPr>
            <a:spLocks noGrp="1"/>
          </p:cNvSpPr>
          <p:nvPr>
            <p:ph type="body" idx="1"/>
          </p:nvPr>
        </p:nvSpPr>
        <p:spPr/>
        <p:txBody>
          <a:bodyPr/>
          <a:lstStyle/>
          <a:p>
            <a:r>
              <a:rPr lang="en-ID" dirty="0"/>
              <a:t>The original idea</a:t>
            </a:r>
          </a:p>
          <a:p>
            <a:r>
              <a:rPr lang="en-ID" dirty="0"/>
              <a:t>The way to realize it</a:t>
            </a:r>
          </a:p>
        </p:txBody>
      </p:sp>
    </p:spTree>
    <p:extLst>
      <p:ext uri="{BB962C8B-B14F-4D97-AF65-F5344CB8AC3E}">
        <p14:creationId xmlns:p14="http://schemas.microsoft.com/office/powerpoint/2010/main" val="10035537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71CF218-6650-2B0A-FE21-EFCCD4B72102}"/>
              </a:ext>
            </a:extLst>
          </p:cNvPr>
          <p:cNvSpPr>
            <a:spLocks noGrp="1"/>
          </p:cNvSpPr>
          <p:nvPr>
            <p:ph type="title"/>
          </p:nvPr>
        </p:nvSpPr>
        <p:spPr/>
        <p:txBody>
          <a:bodyPr/>
          <a:lstStyle/>
          <a:p>
            <a:r>
              <a:rPr lang="en-ID" dirty="0"/>
              <a:t>The original idea</a:t>
            </a:r>
            <a:endParaRPr lang="en-US" dirty="0"/>
          </a:p>
        </p:txBody>
      </p:sp>
      <p:sp>
        <p:nvSpPr>
          <p:cNvPr id="5" name="Content Placeholder 4">
            <a:extLst>
              <a:ext uri="{FF2B5EF4-FFF2-40B4-BE49-F238E27FC236}">
                <a16:creationId xmlns:a16="http://schemas.microsoft.com/office/drawing/2014/main" id="{2AFAB038-3049-C38E-9468-5FEE87DD4A32}"/>
              </a:ext>
            </a:extLst>
          </p:cNvPr>
          <p:cNvSpPr>
            <a:spLocks noGrp="1"/>
          </p:cNvSpPr>
          <p:nvPr>
            <p:ph sz="half" idx="1"/>
          </p:nvPr>
        </p:nvSpPr>
        <p:spPr/>
        <p:txBody>
          <a:bodyPr/>
          <a:lstStyle/>
          <a:p>
            <a:r>
              <a:rPr lang="en-ID" dirty="0"/>
              <a:t>I want to replicate this line of code, but at big scale</a:t>
            </a:r>
          </a:p>
          <a:p>
            <a:r>
              <a:rPr lang="en-ID" dirty="0"/>
              <a:t>I want to solve things like</a:t>
            </a:r>
          </a:p>
          <a:p>
            <a:pPr lvl="1"/>
            <a:r>
              <a:rPr lang="en-ID" dirty="0"/>
              <a:t>Modularity issues</a:t>
            </a:r>
          </a:p>
          <a:p>
            <a:pPr lvl="1"/>
            <a:r>
              <a:rPr lang="en-ID" dirty="0"/>
              <a:t>Inability for 1 single dev to thrive in big projects</a:t>
            </a:r>
          </a:p>
          <a:p>
            <a:pPr lvl="1"/>
            <a:r>
              <a:rPr lang="en-ID" dirty="0"/>
              <a:t>Inconsistencies</a:t>
            </a:r>
            <a:endParaRPr lang="en-US" dirty="0"/>
          </a:p>
        </p:txBody>
      </p:sp>
      <p:pic>
        <p:nvPicPr>
          <p:cNvPr id="8" name="Content Placeholder 7" descr="A screen shot of a computer&#10;&#10;Description automatically generated">
            <a:extLst>
              <a:ext uri="{FF2B5EF4-FFF2-40B4-BE49-F238E27FC236}">
                <a16:creationId xmlns:a16="http://schemas.microsoft.com/office/drawing/2014/main" id="{B972C1F7-56A8-818E-7850-1C3348F5FE03}"/>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603757" y="2603500"/>
            <a:ext cx="4034324" cy="3416300"/>
          </a:xfrm>
        </p:spPr>
      </p:pic>
    </p:spTree>
    <p:extLst>
      <p:ext uri="{BB962C8B-B14F-4D97-AF65-F5344CB8AC3E}">
        <p14:creationId xmlns:p14="http://schemas.microsoft.com/office/powerpoint/2010/main" val="26453834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6C88D-CED5-FD82-B2AA-7BE3ECF19F51}"/>
              </a:ext>
            </a:extLst>
          </p:cNvPr>
          <p:cNvSpPr>
            <a:spLocks noGrp="1"/>
          </p:cNvSpPr>
          <p:nvPr>
            <p:ph type="title"/>
          </p:nvPr>
        </p:nvSpPr>
        <p:spPr/>
        <p:txBody>
          <a:bodyPr/>
          <a:lstStyle/>
          <a:p>
            <a:r>
              <a:rPr lang="en-ID" dirty="0"/>
              <a:t>The way to realize it</a:t>
            </a:r>
            <a:endParaRPr lang="en-US" dirty="0"/>
          </a:p>
        </p:txBody>
      </p:sp>
      <p:sp>
        <p:nvSpPr>
          <p:cNvPr id="3" name="Content Placeholder 2">
            <a:extLst>
              <a:ext uri="{FF2B5EF4-FFF2-40B4-BE49-F238E27FC236}">
                <a16:creationId xmlns:a16="http://schemas.microsoft.com/office/drawing/2014/main" id="{9CF7A7BF-FF55-2A4D-6D49-5B0222109DC8}"/>
              </a:ext>
            </a:extLst>
          </p:cNvPr>
          <p:cNvSpPr>
            <a:spLocks noGrp="1"/>
          </p:cNvSpPr>
          <p:nvPr>
            <p:ph sz="half" idx="1"/>
          </p:nvPr>
        </p:nvSpPr>
        <p:spPr/>
        <p:txBody>
          <a:bodyPr/>
          <a:lstStyle/>
          <a:p>
            <a:r>
              <a:rPr lang="en-ID" dirty="0"/>
              <a:t>I spend around 6 months or more planning and making this possible</a:t>
            </a:r>
            <a:r>
              <a:rPr lang="en-US" dirty="0"/>
              <a:t>, even learning the basics on how tables connect with each other</a:t>
            </a:r>
            <a:endParaRPr lang="en-ID" dirty="0"/>
          </a:p>
        </p:txBody>
      </p:sp>
      <p:pic>
        <p:nvPicPr>
          <p:cNvPr id="8" name="Picture 7" descr="A computer screen with sticky notes&#10;&#10;Description automatically generated">
            <a:extLst>
              <a:ext uri="{FF2B5EF4-FFF2-40B4-BE49-F238E27FC236}">
                <a16:creationId xmlns:a16="http://schemas.microsoft.com/office/drawing/2014/main" id="{D81E6246-2A78-FF6C-D1B3-C10FDE5FBA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11890" y="4071721"/>
            <a:ext cx="5056934" cy="2278781"/>
          </a:xfrm>
          <a:prstGeom prst="rect">
            <a:avLst/>
          </a:prstGeom>
        </p:spPr>
      </p:pic>
      <p:pic>
        <p:nvPicPr>
          <p:cNvPr id="10" name="Picture 9" descr="A computer on a desk">
            <a:extLst>
              <a:ext uri="{FF2B5EF4-FFF2-40B4-BE49-F238E27FC236}">
                <a16:creationId xmlns:a16="http://schemas.microsoft.com/office/drawing/2014/main" id="{99E1F02B-090F-F491-5B81-C389BF467D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5254" y="4105586"/>
            <a:ext cx="4651322" cy="2096002"/>
          </a:xfrm>
          <a:prstGeom prst="rect">
            <a:avLst/>
          </a:prstGeom>
        </p:spPr>
      </p:pic>
      <p:pic>
        <p:nvPicPr>
          <p:cNvPr id="15" name="Content Placeholder 14" descr="A screenshot of a computer">
            <a:extLst>
              <a:ext uri="{FF2B5EF4-FFF2-40B4-BE49-F238E27FC236}">
                <a16:creationId xmlns:a16="http://schemas.microsoft.com/office/drawing/2014/main" id="{391811B3-20F8-3325-1D76-96E56084BB42}"/>
              </a:ext>
            </a:extLst>
          </p:cNvPr>
          <p:cNvPicPr>
            <a:picLocks noGrp="1" noChangeAspect="1"/>
          </p:cNvPicPr>
          <p:nvPr>
            <p:ph sz="half" idx="2"/>
          </p:nvPr>
        </p:nvPicPr>
        <p:blipFill>
          <a:blip r:embed="rId4">
            <a:extLst>
              <a:ext uri="{28A0092B-C50C-407E-A947-70E740481C1C}">
                <a14:useLocalDpi xmlns:a14="http://schemas.microsoft.com/office/drawing/2010/main" val="0"/>
              </a:ext>
            </a:extLst>
          </a:blip>
          <a:stretch>
            <a:fillRect/>
          </a:stretch>
        </p:blipFill>
        <p:spPr>
          <a:xfrm>
            <a:off x="6042867" y="973668"/>
            <a:ext cx="5746800" cy="2424430"/>
          </a:xfrm>
        </p:spPr>
      </p:pic>
    </p:spTree>
    <p:extLst>
      <p:ext uri="{BB962C8B-B14F-4D97-AF65-F5344CB8AC3E}">
        <p14:creationId xmlns:p14="http://schemas.microsoft.com/office/powerpoint/2010/main" val="20528377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BF323-1147-116B-D6BF-BE7953503C9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E130E86-28BC-F1EC-4CA0-69C28DA5CB14}"/>
              </a:ext>
            </a:extLst>
          </p:cNvPr>
          <p:cNvSpPr>
            <a:spLocks noGrp="1"/>
          </p:cNvSpPr>
          <p:nvPr>
            <p:ph type="title"/>
          </p:nvPr>
        </p:nvSpPr>
        <p:spPr/>
        <p:txBody>
          <a:bodyPr/>
          <a:lstStyle/>
          <a:p>
            <a:r>
              <a:rPr lang="en-ID" dirty="0"/>
              <a:t>My tech preference and reasons</a:t>
            </a:r>
            <a:endParaRPr lang="en-US" dirty="0"/>
          </a:p>
        </p:txBody>
      </p:sp>
      <p:sp>
        <p:nvSpPr>
          <p:cNvPr id="6" name="Text Placeholder 5">
            <a:extLst>
              <a:ext uri="{FF2B5EF4-FFF2-40B4-BE49-F238E27FC236}">
                <a16:creationId xmlns:a16="http://schemas.microsoft.com/office/drawing/2014/main" id="{392ACB39-9AFD-4B3B-1DF1-23D06B01B0D0}"/>
              </a:ext>
            </a:extLst>
          </p:cNvPr>
          <p:cNvSpPr>
            <a:spLocks noGrp="1"/>
          </p:cNvSpPr>
          <p:nvPr>
            <p:ph type="body" idx="1"/>
          </p:nvPr>
        </p:nvSpPr>
        <p:spPr/>
        <p:txBody>
          <a:bodyPr/>
          <a:lstStyle/>
          <a:p>
            <a:r>
              <a:rPr lang="en-ID" dirty="0" err="1"/>
              <a:t>Codeigniter</a:t>
            </a:r>
            <a:r>
              <a:rPr lang="en-ID" dirty="0"/>
              <a:t> 3</a:t>
            </a:r>
          </a:p>
          <a:p>
            <a:r>
              <a:rPr lang="en-ID" dirty="0"/>
              <a:t>Bootstrap 4</a:t>
            </a:r>
          </a:p>
        </p:txBody>
      </p:sp>
    </p:spTree>
    <p:extLst>
      <p:ext uri="{BB962C8B-B14F-4D97-AF65-F5344CB8AC3E}">
        <p14:creationId xmlns:p14="http://schemas.microsoft.com/office/powerpoint/2010/main" val="40964288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DB198-AF80-7497-ADB9-642939785E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C297B1-640B-E6F7-0E81-B1A68446EF3F}"/>
              </a:ext>
            </a:extLst>
          </p:cNvPr>
          <p:cNvSpPr>
            <a:spLocks noGrp="1"/>
          </p:cNvSpPr>
          <p:nvPr>
            <p:ph type="title"/>
          </p:nvPr>
        </p:nvSpPr>
        <p:spPr/>
        <p:txBody>
          <a:bodyPr/>
          <a:lstStyle/>
          <a:p>
            <a:r>
              <a:rPr lang="en-ID" dirty="0" err="1"/>
              <a:t>Codeigniter</a:t>
            </a:r>
            <a:r>
              <a:rPr lang="en-ID" dirty="0"/>
              <a:t> 3</a:t>
            </a:r>
            <a:endParaRPr lang="en-US" dirty="0"/>
          </a:p>
        </p:txBody>
      </p:sp>
      <p:sp>
        <p:nvSpPr>
          <p:cNvPr id="3" name="Content Placeholder 2">
            <a:extLst>
              <a:ext uri="{FF2B5EF4-FFF2-40B4-BE49-F238E27FC236}">
                <a16:creationId xmlns:a16="http://schemas.microsoft.com/office/drawing/2014/main" id="{3B80FAD7-F5B3-A81C-40EC-EC4BE5D5212A}"/>
              </a:ext>
            </a:extLst>
          </p:cNvPr>
          <p:cNvSpPr>
            <a:spLocks noGrp="1"/>
          </p:cNvSpPr>
          <p:nvPr>
            <p:ph sz="half" idx="1"/>
          </p:nvPr>
        </p:nvSpPr>
        <p:spPr/>
        <p:txBody>
          <a:bodyPr>
            <a:normAutofit/>
          </a:bodyPr>
          <a:lstStyle/>
          <a:p>
            <a:r>
              <a:rPr lang="en-US" dirty="0" err="1"/>
              <a:t>Codeigniter</a:t>
            </a:r>
            <a:r>
              <a:rPr lang="en-US" dirty="0"/>
              <a:t> 3 isn’t the standards of web development nowadays, it’s Laravel (especially v11).</a:t>
            </a:r>
          </a:p>
          <a:p>
            <a:r>
              <a:rPr lang="en-US" dirty="0" err="1"/>
              <a:t>Codeigniter</a:t>
            </a:r>
            <a:r>
              <a:rPr lang="en-US" dirty="0"/>
              <a:t> 3 also has a lot of problems to begin with</a:t>
            </a:r>
          </a:p>
          <a:p>
            <a:r>
              <a:rPr lang="en-US" dirty="0"/>
              <a:t>But its light, simple to use, and experienced by me</a:t>
            </a:r>
          </a:p>
          <a:p>
            <a:r>
              <a:rPr lang="en-US" dirty="0"/>
              <a:t>The flexibility of </a:t>
            </a:r>
            <a:r>
              <a:rPr lang="en-US" dirty="0" err="1"/>
              <a:t>codeigniter</a:t>
            </a:r>
            <a:r>
              <a:rPr lang="en-US" dirty="0"/>
              <a:t> 3 is enough for me the sole reason I keep using it for this research</a:t>
            </a:r>
          </a:p>
        </p:txBody>
      </p:sp>
      <p:pic>
        <p:nvPicPr>
          <p:cNvPr id="11266" name="Picture 2" descr="Tutorial Codeigniter 3 Dalam Satu Jam - CODEPOLITAN">
            <a:extLst>
              <a:ext uri="{FF2B5EF4-FFF2-40B4-BE49-F238E27FC236}">
                <a16:creationId xmlns:a16="http://schemas.microsoft.com/office/drawing/2014/main" id="{A4EA1A15-C056-56A2-073E-E001353AC009}"/>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208713" y="2954382"/>
            <a:ext cx="4824412" cy="27145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41161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2870D-7D43-0A55-6B8D-315EF6DF55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80025B-04C9-B440-4708-85303327CF5B}"/>
              </a:ext>
            </a:extLst>
          </p:cNvPr>
          <p:cNvSpPr>
            <a:spLocks noGrp="1"/>
          </p:cNvSpPr>
          <p:nvPr>
            <p:ph type="title"/>
          </p:nvPr>
        </p:nvSpPr>
        <p:spPr/>
        <p:txBody>
          <a:bodyPr/>
          <a:lstStyle/>
          <a:p>
            <a:r>
              <a:rPr lang="en-ID" dirty="0"/>
              <a:t>Bootstrap 4</a:t>
            </a:r>
            <a:endParaRPr lang="en-US" dirty="0"/>
          </a:p>
        </p:txBody>
      </p:sp>
      <p:sp>
        <p:nvSpPr>
          <p:cNvPr id="3" name="Content Placeholder 2">
            <a:extLst>
              <a:ext uri="{FF2B5EF4-FFF2-40B4-BE49-F238E27FC236}">
                <a16:creationId xmlns:a16="http://schemas.microsoft.com/office/drawing/2014/main" id="{B3B67ED0-46BD-7F79-9D64-9CB94CE578A0}"/>
              </a:ext>
            </a:extLst>
          </p:cNvPr>
          <p:cNvSpPr>
            <a:spLocks noGrp="1"/>
          </p:cNvSpPr>
          <p:nvPr>
            <p:ph sz="half" idx="1"/>
          </p:nvPr>
        </p:nvSpPr>
        <p:spPr/>
        <p:txBody>
          <a:bodyPr>
            <a:normAutofit/>
          </a:bodyPr>
          <a:lstStyle/>
          <a:p>
            <a:r>
              <a:rPr lang="en-US" dirty="0"/>
              <a:t>Bootstrap 4 are also the same, the most used one nowadays is either bootstrap 5, tailwind, and others.</a:t>
            </a:r>
          </a:p>
          <a:p>
            <a:r>
              <a:rPr lang="en-US" dirty="0"/>
              <a:t>But I’m more of a backend developer than frontend, so I use the thing that I already utilize most</a:t>
            </a:r>
          </a:p>
        </p:txBody>
      </p:sp>
      <p:pic>
        <p:nvPicPr>
          <p:cNvPr id="14338" name="Picture 2" descr="Apa Saja yang Baru di Bootstrap 4? - Webzid Developer">
            <a:extLst>
              <a:ext uri="{FF2B5EF4-FFF2-40B4-BE49-F238E27FC236}">
                <a16:creationId xmlns:a16="http://schemas.microsoft.com/office/drawing/2014/main" id="{CFDEC6CA-8DFB-9574-D74A-628FCCBBCCE8}"/>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7106444" y="3554412"/>
            <a:ext cx="3028950" cy="1514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08870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336C01C-5A8E-FF30-1094-9716019B46A9}"/>
              </a:ext>
            </a:extLst>
          </p:cNvPr>
          <p:cNvSpPr>
            <a:spLocks noGrp="1"/>
          </p:cNvSpPr>
          <p:nvPr>
            <p:ph type="title"/>
          </p:nvPr>
        </p:nvSpPr>
        <p:spPr/>
        <p:txBody>
          <a:bodyPr/>
          <a:lstStyle/>
          <a:p>
            <a:r>
              <a:rPr lang="en-US" dirty="0"/>
              <a:t>The way I intended to use global variable on </a:t>
            </a:r>
            <a:r>
              <a:rPr lang="en-US" dirty="0" err="1"/>
              <a:t>codeigniter</a:t>
            </a:r>
            <a:r>
              <a:rPr lang="en-US" dirty="0"/>
              <a:t> 3 is like making a </a:t>
            </a:r>
            <a:r>
              <a:rPr lang="en-US" dirty="0" err="1"/>
              <a:t>mcdonalds</a:t>
            </a:r>
            <a:r>
              <a:rPr lang="en-US" dirty="0"/>
              <a:t> to solve the African food crisis.</a:t>
            </a:r>
          </a:p>
        </p:txBody>
      </p:sp>
      <p:sp>
        <p:nvSpPr>
          <p:cNvPr id="7" name="Text Placeholder 6">
            <a:extLst>
              <a:ext uri="{FF2B5EF4-FFF2-40B4-BE49-F238E27FC236}">
                <a16:creationId xmlns:a16="http://schemas.microsoft.com/office/drawing/2014/main" id="{C9950566-6452-3273-3E66-79ED1E9ED887}"/>
              </a:ext>
            </a:extLst>
          </p:cNvPr>
          <p:cNvSpPr>
            <a:spLocks noGrp="1"/>
          </p:cNvSpPr>
          <p:nvPr>
            <p:ph type="body" sz="half" idx="13"/>
          </p:nvPr>
        </p:nvSpPr>
        <p:spPr/>
        <p:txBody>
          <a:bodyPr/>
          <a:lstStyle/>
          <a:p>
            <a:r>
              <a:rPr lang="en-ID" dirty="0"/>
              <a:t>Khenjy Johnelson</a:t>
            </a:r>
            <a:endParaRPr lang="en-US" dirty="0"/>
          </a:p>
        </p:txBody>
      </p:sp>
      <p:sp>
        <p:nvSpPr>
          <p:cNvPr id="6" name="Text Placeholder 5">
            <a:extLst>
              <a:ext uri="{FF2B5EF4-FFF2-40B4-BE49-F238E27FC236}">
                <a16:creationId xmlns:a16="http://schemas.microsoft.com/office/drawing/2014/main" id="{B5B2A2EA-7519-0FA7-E82E-F2367C7EFEF3}"/>
              </a:ext>
            </a:extLst>
          </p:cNvPr>
          <p:cNvSpPr>
            <a:spLocks noGrp="1"/>
          </p:cNvSpPr>
          <p:nvPr>
            <p:ph type="body" sz="half" idx="2"/>
          </p:nvPr>
        </p:nvSpPr>
        <p:spPr/>
        <p:txBody>
          <a:bodyPr/>
          <a:lstStyle/>
          <a:p>
            <a:endParaRPr lang="en-US" dirty="0"/>
          </a:p>
        </p:txBody>
      </p:sp>
    </p:spTree>
    <p:extLst>
      <p:ext uri="{BB962C8B-B14F-4D97-AF65-F5344CB8AC3E}">
        <p14:creationId xmlns:p14="http://schemas.microsoft.com/office/powerpoint/2010/main" val="33634423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C2BBB44-F2D6-0F94-95FD-24516C9C4F03}"/>
              </a:ext>
            </a:extLst>
          </p:cNvPr>
          <p:cNvSpPr>
            <a:spLocks noGrp="1"/>
          </p:cNvSpPr>
          <p:nvPr>
            <p:ph type="title"/>
          </p:nvPr>
        </p:nvSpPr>
        <p:spPr/>
        <p:txBody>
          <a:bodyPr/>
          <a:lstStyle/>
          <a:p>
            <a:r>
              <a:rPr lang="en-ID" dirty="0"/>
              <a:t>References</a:t>
            </a:r>
            <a:endParaRPr lang="en-US" dirty="0"/>
          </a:p>
        </p:txBody>
      </p:sp>
      <p:sp>
        <p:nvSpPr>
          <p:cNvPr id="8" name="Content Placeholder 7">
            <a:extLst>
              <a:ext uri="{FF2B5EF4-FFF2-40B4-BE49-F238E27FC236}">
                <a16:creationId xmlns:a16="http://schemas.microsoft.com/office/drawing/2014/main" id="{3D4B5160-060D-4B00-6A74-BD9592AEFA49}"/>
              </a:ext>
            </a:extLst>
          </p:cNvPr>
          <p:cNvSpPr>
            <a:spLocks noGrp="1"/>
          </p:cNvSpPr>
          <p:nvPr>
            <p:ph idx="1"/>
          </p:nvPr>
        </p:nvSpPr>
        <p:spPr/>
        <p:txBody>
          <a:bodyPr/>
          <a:lstStyle/>
          <a:p>
            <a:r>
              <a:rPr lang="en-US" dirty="0">
                <a:hlinkClick r:id="rId2"/>
              </a:rPr>
              <a:t>https://web.archive.org/web/20121204081204/http://www.phpwact.org/pattern/template_view</a:t>
            </a:r>
            <a:endParaRPr lang="en-US" dirty="0"/>
          </a:p>
          <a:p>
            <a:r>
              <a:rPr lang="en-US" dirty="0">
                <a:hlinkClick r:id="rId3"/>
              </a:rPr>
              <a:t>https://learning.postman.com/docs/sending-requests/variables/variables/</a:t>
            </a:r>
            <a:endParaRPr lang="en-US" dirty="0"/>
          </a:p>
          <a:p>
            <a:r>
              <a:rPr lang="en-US" dirty="0">
                <a:hlinkClick r:id="rId4"/>
              </a:rPr>
              <a:t>https://community.postman.com/t/how-to-set-and-get-dynamic-environmental-variable/7482</a:t>
            </a:r>
            <a:endParaRPr lang="en-US" dirty="0"/>
          </a:p>
          <a:p>
            <a:endParaRPr lang="en-US" dirty="0"/>
          </a:p>
          <a:p>
            <a:endParaRPr lang="en-US" dirty="0"/>
          </a:p>
        </p:txBody>
      </p:sp>
    </p:spTree>
    <p:extLst>
      <p:ext uri="{BB962C8B-B14F-4D97-AF65-F5344CB8AC3E}">
        <p14:creationId xmlns:p14="http://schemas.microsoft.com/office/powerpoint/2010/main" val="23393476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56DDEF6-96B3-CD10-0AF7-AEFC2EAA14AA}"/>
              </a:ext>
            </a:extLst>
          </p:cNvPr>
          <p:cNvSpPr>
            <a:spLocks noGrp="1"/>
          </p:cNvSpPr>
          <p:nvPr>
            <p:ph type="title"/>
          </p:nvPr>
        </p:nvSpPr>
        <p:spPr/>
        <p:txBody>
          <a:bodyPr/>
          <a:lstStyle/>
          <a:p>
            <a:r>
              <a:rPr lang="en-ID" dirty="0"/>
              <a:t>More here</a:t>
            </a:r>
            <a:endParaRPr lang="en-US" dirty="0"/>
          </a:p>
        </p:txBody>
      </p:sp>
      <p:sp>
        <p:nvSpPr>
          <p:cNvPr id="6" name="Content Placeholder 5">
            <a:extLst>
              <a:ext uri="{FF2B5EF4-FFF2-40B4-BE49-F238E27FC236}">
                <a16:creationId xmlns:a16="http://schemas.microsoft.com/office/drawing/2014/main" id="{3FFD562D-F822-9330-8C58-C4370068102C}"/>
              </a:ext>
            </a:extLst>
          </p:cNvPr>
          <p:cNvSpPr>
            <a:spLocks noGrp="1"/>
          </p:cNvSpPr>
          <p:nvPr>
            <p:ph sz="half" idx="1"/>
          </p:nvPr>
        </p:nvSpPr>
        <p:spPr/>
        <p:txBody>
          <a:bodyPr/>
          <a:lstStyle/>
          <a:p>
            <a:r>
              <a:rPr lang="en-ID" dirty="0"/>
              <a:t>Discuss</a:t>
            </a:r>
          </a:p>
          <a:p>
            <a:r>
              <a:rPr lang="en-ID" dirty="0"/>
              <a:t>Ask Questions</a:t>
            </a:r>
          </a:p>
          <a:p>
            <a:r>
              <a:rPr lang="en-ID" dirty="0"/>
              <a:t>Collab</a:t>
            </a:r>
            <a:endParaRPr lang="en-US" dirty="0"/>
          </a:p>
        </p:txBody>
      </p:sp>
      <p:sp>
        <p:nvSpPr>
          <p:cNvPr id="7" name="Content Placeholder 6">
            <a:extLst>
              <a:ext uri="{FF2B5EF4-FFF2-40B4-BE49-F238E27FC236}">
                <a16:creationId xmlns:a16="http://schemas.microsoft.com/office/drawing/2014/main" id="{52A41144-F50B-A2FA-59CC-EEF28EEE61E6}"/>
              </a:ext>
            </a:extLst>
          </p:cNvPr>
          <p:cNvSpPr>
            <a:spLocks noGrp="1"/>
          </p:cNvSpPr>
          <p:nvPr>
            <p:ph sz="half" idx="2"/>
          </p:nvPr>
        </p:nvSpPr>
        <p:spPr/>
        <p:txBody>
          <a:bodyPr/>
          <a:lstStyle/>
          <a:p>
            <a:r>
              <a:rPr lang="en-US" dirty="0"/>
              <a:t>Discord:</a:t>
            </a:r>
          </a:p>
          <a:p>
            <a:r>
              <a:rPr lang="en-ID" dirty="0">
                <a:hlinkClick r:id="rId2"/>
              </a:rPr>
              <a:t>https://discord.gg/4pTNSCQbvw</a:t>
            </a:r>
            <a:r>
              <a:rPr lang="en-ID" dirty="0"/>
              <a:t> </a:t>
            </a:r>
          </a:p>
        </p:txBody>
      </p:sp>
    </p:spTree>
    <p:extLst>
      <p:ext uri="{BB962C8B-B14F-4D97-AF65-F5344CB8AC3E}">
        <p14:creationId xmlns:p14="http://schemas.microsoft.com/office/powerpoint/2010/main" val="3620950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D4024AD-D252-6739-9ACE-E59EF2EDC45C}"/>
              </a:ext>
            </a:extLst>
          </p:cNvPr>
          <p:cNvSpPr>
            <a:spLocks noGrp="1"/>
          </p:cNvSpPr>
          <p:nvPr>
            <p:ph type="title"/>
          </p:nvPr>
        </p:nvSpPr>
        <p:spPr/>
        <p:txBody>
          <a:bodyPr/>
          <a:lstStyle/>
          <a:p>
            <a:r>
              <a:rPr lang="en-ID" dirty="0"/>
              <a:t>Thank You</a:t>
            </a:r>
            <a:endParaRPr lang="en-US" dirty="0"/>
          </a:p>
        </p:txBody>
      </p:sp>
      <p:sp>
        <p:nvSpPr>
          <p:cNvPr id="6" name="Text Placeholder 5">
            <a:extLst>
              <a:ext uri="{FF2B5EF4-FFF2-40B4-BE49-F238E27FC236}">
                <a16:creationId xmlns:a16="http://schemas.microsoft.com/office/drawing/2014/main" id="{15B6C082-ECBF-EFA7-551F-89B683C5846A}"/>
              </a:ext>
            </a:extLst>
          </p:cNvPr>
          <p:cNvSpPr>
            <a:spLocks noGrp="1"/>
          </p:cNvSpPr>
          <p:nvPr>
            <p:ph type="body" idx="1"/>
          </p:nvPr>
        </p:nvSpPr>
        <p:spPr/>
        <p:txBody>
          <a:bodyPr>
            <a:normAutofit/>
          </a:bodyPr>
          <a:lstStyle/>
          <a:p>
            <a:r>
              <a:rPr lang="en-ID" sz="1400" dirty="0"/>
              <a:t>khenjyjohnelson123@uvers.ac.id</a:t>
            </a:r>
            <a:endParaRPr lang="en-US" sz="1400" dirty="0"/>
          </a:p>
        </p:txBody>
      </p:sp>
    </p:spTree>
    <p:extLst>
      <p:ext uri="{BB962C8B-B14F-4D97-AF65-F5344CB8AC3E}">
        <p14:creationId xmlns:p14="http://schemas.microsoft.com/office/powerpoint/2010/main" val="171620979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1454</TotalTime>
  <Words>1940</Words>
  <Application>Microsoft Office PowerPoint</Application>
  <PresentationFormat>Widescreen</PresentationFormat>
  <Paragraphs>188</Paragraphs>
  <Slides>35</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Arial</vt:lpstr>
      <vt:lpstr>Calibri</vt:lpstr>
      <vt:lpstr>Century Gothic</vt:lpstr>
      <vt:lpstr>Wingdings 3</vt:lpstr>
      <vt:lpstr>Ion Boardroom</vt:lpstr>
      <vt:lpstr>Introduction before the Omnitags</vt:lpstr>
      <vt:lpstr>Outline</vt:lpstr>
      <vt:lpstr>Preface</vt:lpstr>
      <vt:lpstr>Who Am I?</vt:lpstr>
      <vt:lpstr>My Profile</vt:lpstr>
      <vt:lpstr>Why I made this course</vt:lpstr>
      <vt:lpstr>Cargo cult programming</vt:lpstr>
      <vt:lpstr>Cargo cult Programming</vt:lpstr>
      <vt:lpstr>Introduction</vt:lpstr>
      <vt:lpstr>How most software development works (at the core of it)</vt:lpstr>
      <vt:lpstr>Local Variables</vt:lpstr>
      <vt:lpstr>Modular Programming</vt:lpstr>
      <vt:lpstr>Global Variable</vt:lpstr>
      <vt:lpstr>The thing about Global Variable</vt:lpstr>
      <vt:lpstr>5W + 1H</vt:lpstr>
      <vt:lpstr>What is global variable</vt:lpstr>
      <vt:lpstr>Who use it</vt:lpstr>
      <vt:lpstr>When to use it</vt:lpstr>
      <vt:lpstr>Where is it placed</vt:lpstr>
      <vt:lpstr>Why even bother</vt:lpstr>
      <vt:lpstr>In comparisons to other types of variables</vt:lpstr>
      <vt:lpstr>Local Variable vs Global Variable</vt:lpstr>
      <vt:lpstr>Environment Variable</vt:lpstr>
      <vt:lpstr>Postman Environment</vt:lpstr>
      <vt:lpstr>My Story</vt:lpstr>
      <vt:lpstr>How it came to picture</vt:lpstr>
      <vt:lpstr>The original idea</vt:lpstr>
      <vt:lpstr>The way to realize it</vt:lpstr>
      <vt:lpstr>My tech preference and reasons</vt:lpstr>
      <vt:lpstr>Codeigniter 3</vt:lpstr>
      <vt:lpstr>Bootstrap 4</vt:lpstr>
      <vt:lpstr>The way I intended to use global variable on codeigniter 3 is like making a mcdonalds to solve the African food crisis.</vt:lpstr>
      <vt:lpstr>References</vt:lpstr>
      <vt:lpstr>More here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Khenjy Johnelson</dc:creator>
  <cp:lastModifiedBy>Khenjy Johnelson</cp:lastModifiedBy>
  <cp:revision>10</cp:revision>
  <dcterms:created xsi:type="dcterms:W3CDTF">2024-07-20T00:45:46Z</dcterms:created>
  <dcterms:modified xsi:type="dcterms:W3CDTF">2024-11-14T08:56:52Z</dcterms:modified>
</cp:coreProperties>
</file>